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58" r:id="rId5"/>
    <p:sldId id="272" r:id="rId6"/>
    <p:sldId id="273" r:id="rId7"/>
    <p:sldId id="263" r:id="rId8"/>
    <p:sldId id="264" r:id="rId9"/>
    <p:sldId id="269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70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0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AD0A0-328E-4487-9E5E-2D483094DBB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326D1-FF4D-4019-8321-51EE70EF3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326D1-FF4D-4019-8321-51EE70EF3C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2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-914400"/>
            <a:ext cx="5029200" cy="502920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-457200"/>
            <a:ext cx="4114800" cy="4114800"/>
          </a:xfrm>
          <a:prstGeom prst="rect">
            <a:avLst/>
          </a:prstGeom>
          <a:solidFill>
            <a:srgbClr val="02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Smart Education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  <a:latin typeface="Calibri"/>
              </a:rPr>
              <a:t>MERN Stack · Full Stack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6-Month Industrial Training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0E0EF"/>
                </a:solidFill>
                <a:latin typeface="Calibri"/>
              </a:rPr>
              <a:t>Presented by: Jay Kumar  |  GitHub: </a:t>
            </a:r>
            <a:r>
              <a:rPr sz="1400" b="0" i="0" dirty="0" err="1">
                <a:solidFill>
                  <a:srgbClr val="90E0EF"/>
                </a:solidFill>
                <a:latin typeface="Calibri"/>
              </a:rPr>
              <a:t>jayjaisswal</a:t>
            </a:r>
            <a:endParaRPr sz="1400" b="0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Live: padho-india.vercel.app</a:t>
            </a:r>
          </a:p>
        </p:txBody>
      </p:sp>
      <p:pic>
        <p:nvPicPr>
          <p:cNvPr id="12" name="Picture 11" descr="Logo">
            <a:extLst>
              <a:ext uri="{FF2B5EF4-FFF2-40B4-BE49-F238E27FC236}">
                <a16:creationId xmlns:a16="http://schemas.microsoft.com/office/drawing/2014/main" id="{3592740D-37A6-CBF0-AABC-C4CBD6BDA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826870"/>
            <a:ext cx="3757889" cy="14207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246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3291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0B4D8"/>
                </a:solidFill>
                <a:latin typeface="Calibri"/>
              </a:rPr>
              <a:t>Challenges</a:t>
            </a:r>
            <a:endParaRPr sz="3000" b="1" i="0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0" y="365760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D1B2A"/>
                </a:solidFill>
                <a:latin typeface="Calibri"/>
              </a:rPr>
              <a:t>What </a:t>
            </a:r>
            <a:r>
              <a:rPr sz="2200" b="1" i="0" dirty="0" err="1">
                <a:solidFill>
                  <a:srgbClr val="0D1B2A"/>
                </a:solidFill>
                <a:latin typeface="Calibri"/>
              </a:rPr>
              <a:t>Padho</a:t>
            </a:r>
            <a:r>
              <a:rPr sz="2200" b="1" i="0" dirty="0">
                <a:solidFill>
                  <a:srgbClr val="0D1B2A"/>
                </a:solidFill>
                <a:latin typeface="Calibri"/>
              </a:rPr>
              <a:t> India</a:t>
            </a:r>
            <a:r>
              <a:rPr lang="en-US" sz="2200" b="1" i="0" dirty="0">
                <a:solidFill>
                  <a:srgbClr val="0D1B2A"/>
                </a:solidFill>
                <a:latin typeface="Calibri"/>
              </a:rPr>
              <a:t> Solves</a:t>
            </a:r>
            <a:r>
              <a:rPr sz="2200" b="1" i="0" dirty="0">
                <a:solidFill>
                  <a:srgbClr val="0D1B2A"/>
                </a:solidFill>
                <a:latin typeface="Calibri"/>
              </a:rPr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051560"/>
            <a:ext cx="7698105" cy="1677282"/>
          </a:xfrm>
          <a:prstGeom prst="rect">
            <a:avLst/>
          </a:prstGeom>
          <a:solidFill>
            <a:srgbClr val="E8F4F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215813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215813"/>
            <a:ext cx="4955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The Internet Made Content Cheap But Not Organized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YouTube made video free. Telegram made PDFs free. But free and scattered is not the same as useful. A student still spends more time searching for the right content than actually studying it</a:t>
            </a:r>
            <a:r>
              <a:rPr lang="en-US" sz="1100" dirty="0"/>
              <a:t>.</a:t>
            </a:r>
            <a:endParaRPr sz="1100" b="0" i="0" dirty="0">
              <a:solidFill>
                <a:srgbClr val="023769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6239" y="2996336"/>
            <a:ext cx="7698105" cy="17322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426" y="31150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506" y="3123265"/>
            <a:ext cx="49332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Teaching Online Requires Being a Developer First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6506" y="3597029"/>
            <a:ext cx="6583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If a teacher wants to sell a course online today, they either give 50% to Udemy or spend months building their own website or spend money to hire developers. There is no middle ground where a non-technical educator can simply sign up, create a course, and start earning.</a:t>
            </a:r>
            <a:endParaRPr sz="1400" b="0" i="0" dirty="0">
              <a:solidFill>
                <a:srgbClr val="023769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06238" y="4941114"/>
            <a:ext cx="7698105" cy="1677281"/>
          </a:xfrm>
          <a:prstGeom prst="rect">
            <a:avLst/>
          </a:prstGeom>
          <a:solidFill>
            <a:srgbClr val="E8F4F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50327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6066" y="4996050"/>
            <a:ext cx="6709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No Structured Practice PYQ for JEE or NEET Aspirants and Placement Students with Solution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56506" y="5605124"/>
            <a:ext cx="6583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JEE and NEET previous year questions are available on random websites but with no proper structure, no topic-wise organization, and no verified solutions. Aptitude MCQs for placement prep are equally scattered with no quality control. Students waste time finding questions, then waste more time.</a:t>
            </a:r>
            <a:endParaRPr sz="1100" b="0" i="0" dirty="0">
              <a:solidFill>
                <a:srgbClr val="023769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79FE01C-2EAC-B6D2-C197-48E0DC1B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105971"/>
            <a:ext cx="3794758" cy="6711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14" y="0"/>
            <a:ext cx="12188952" cy="6858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🎯 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BED4"/>
                </a:solidFill>
                <a:latin typeface="Calibri"/>
              </a:rPr>
              <a:t>What </a:t>
            </a:r>
            <a:r>
              <a:rPr b="0" i="0" dirty="0" err="1">
                <a:solidFill>
                  <a:srgbClr val="B0BED4"/>
                </a:solidFill>
                <a:latin typeface="Calibri"/>
              </a:rPr>
              <a:t>Padho</a:t>
            </a:r>
            <a:r>
              <a:rPr b="0" i="0" dirty="0">
                <a:solidFill>
                  <a:srgbClr val="B0BED4"/>
                </a:solidFill>
                <a:latin typeface="Calibri"/>
              </a:rPr>
              <a:t> India is built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2CB"/>
                </a:solidFill>
                <a:latin typeface="Calibri"/>
              </a:rPr>
              <a:t>Unified Learning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Bring IIT JEE, NEET, Aptitude, Placement &amp; general courses under one roof for every Indian student.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94360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50876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C107"/>
                </a:solidFill>
                <a:latin typeface="Calibri"/>
              </a:rPr>
              <a:t>Free + Paid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96596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Offer free courses for underprivileged learners alongside premium paid content managed by instructors.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39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063239"/>
            <a:ext cx="5577840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594360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246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4612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D48A"/>
                </a:solidFill>
                <a:latin typeface="Calibri"/>
              </a:rPr>
              <a:t>Empower Instructors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Give educators tools to create batches, upload videos, sell courses, and track earnings &amp; students.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63239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063239"/>
            <a:ext cx="5577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5943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246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4612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6B35"/>
                </a:solidFill>
                <a:latin typeface="Calibri"/>
              </a:rPr>
              <a:t>Secure &amp; Trusted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70332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OTP-verified signup, JWT auth, role-based access — ensuring trust for both students and instructors.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800600"/>
            <a:ext cx="55778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98348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49834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98348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ED"/>
                </a:solidFill>
                <a:latin typeface="Calibri"/>
              </a:rPr>
              <a:t>Seamless 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44068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0BED4"/>
                </a:solidFill>
                <a:latin typeface="Calibri"/>
              </a:rPr>
              <a:t>Razorpay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-powered enrollment so instructors monetize their content and students pay with confidence.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80060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4800600"/>
            <a:ext cx="55778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983480"/>
            <a:ext cx="59436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49834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E27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8348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F4444"/>
                </a:solidFill>
                <a:latin typeface="Calibri"/>
              </a:rPr>
              <a:t>Feedback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44068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Students</a:t>
            </a:r>
            <a:r>
              <a:rPr lang="en-US" sz="1400" dirty="0">
                <a:solidFill>
                  <a:srgbClr val="B0BED4"/>
                </a:solidFill>
                <a:latin typeface="Calibri"/>
              </a:rPr>
              <a:t> give feedback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; instructors see reviews and ratings to continuously improve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  <a:latin typeface="Calibri"/>
              </a:rPr>
              <a:t>MERN Stack — Modern, scalable, JavaScript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43200" cy="521208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Calibri"/>
              </a:rPr>
              <a:t>⚛️ 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UI library with 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>
                <a:solidFill>
                  <a:srgbClr val="90E0EF"/>
                </a:solidFill>
                <a:latin typeface="Calibri"/>
              </a:rPr>
              <a:t>Redux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State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9651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Utility-first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9262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Fast build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96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Axios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8873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HTTP client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371600"/>
            <a:ext cx="2743200" cy="521208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1389888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Calibri"/>
              </a:rPr>
              <a:t>🖥️ 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Node.js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30428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JavaScript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07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Express.js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004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Web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09651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Auth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 err="1">
                <a:solidFill>
                  <a:srgbClr val="90E0EF"/>
                </a:solidFill>
                <a:latin typeface="Calibri"/>
              </a:rPr>
              <a:t>Bcrypt</a:t>
            </a:r>
            <a:endParaRPr sz="14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83280" y="499262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Password hashing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596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 err="1">
                <a:solidFill>
                  <a:srgbClr val="90E0EF"/>
                </a:solidFill>
                <a:latin typeface="Calibri"/>
              </a:rPr>
              <a:t>Nodemailer</a:t>
            </a:r>
            <a:endParaRPr sz="14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83280" y="588873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Email notifications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371600"/>
            <a:ext cx="2743200" cy="521208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137160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1389888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Calibri"/>
              </a:rPr>
              <a:t>🗄️ 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MongoDB Atlas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30428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NoSQL cloud 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907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Mongoose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2004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ODM for MongoDB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Schema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09651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Nested schemas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Indexing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99262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Query optimization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596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Relationships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88873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Refs &amp; population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1371600"/>
            <a:ext cx="2743200" cy="521208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98280" y="137160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0" y="1389888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Calibri"/>
              </a:rPr>
              <a:t>☁️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 err="1">
                <a:solidFill>
                  <a:srgbClr val="90E0EF"/>
                </a:solidFill>
                <a:latin typeface="Calibri"/>
              </a:rPr>
              <a:t>Cloudinary</a:t>
            </a:r>
            <a:endParaRPr sz="14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35440" y="230428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Media storage &amp; CDN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907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 err="1">
                <a:solidFill>
                  <a:srgbClr val="90E0EF"/>
                </a:solidFill>
                <a:latin typeface="Calibri"/>
              </a:rPr>
              <a:t>Razorpay</a:t>
            </a:r>
            <a:endParaRPr sz="14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35440" y="32004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Payment gateway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</a:t>
            </a:r>
            <a:r>
              <a:rPr sz="1400" b="1" i="0" dirty="0" err="1">
                <a:solidFill>
                  <a:srgbClr val="90E0EF"/>
                </a:solidFill>
                <a:latin typeface="Calibri"/>
              </a:rPr>
              <a:t>Vercel</a:t>
            </a:r>
            <a:endParaRPr sz="14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35440" y="409651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Frontend hosting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Render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99262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Backend hosting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596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0E0EF"/>
                </a:solidFill>
                <a:latin typeface="Calibri"/>
              </a:rPr>
              <a:t>• GitHub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88873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📋  What's Available on Padho India?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All categories of learning content — from competitive exams to career prep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990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Aptitude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8424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Quantitative, Logical Reasoning, Verbal Ability — full prep for campus placements and govt exams.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49039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1" y="13990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417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IIT JEE PYQs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1984248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Year-wise previous year question papers with structured solutions by expert instructors.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749039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3990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417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NEET PYQs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98424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Biology, Physics, Chemistry PYQ sets with detailed explanations for medical entrance aspirants.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3749039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867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862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Placement &amp; 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45312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DSA, System Design, HR rounds, coding challenges — complete placement preparation module.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79476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3794760"/>
            <a:ext cx="3749039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1" y="3867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8862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PDF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1" y="445312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Downloadable chapter-wise notes for quick revision, available for both free and paid courses.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94760"/>
            <a:ext cx="3749039" cy="224028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8183879" y="3794760"/>
            <a:ext cx="3749039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1" y="38679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9090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Free 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45312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Cr</a:t>
            </a:r>
            <a:r>
              <a:rPr lang="en-US" sz="1400" b="0" i="0" dirty="0">
                <a:solidFill>
                  <a:srgbClr val="B0BED4"/>
                </a:solidFill>
                <a:latin typeface="Calibri"/>
              </a:rPr>
              <a:t>e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ated free courses ensure quality learning is available to every student regardless of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👨‍🏫  Instructor Dashboard — Full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BED4"/>
                </a:solidFill>
                <a:latin typeface="Calibri"/>
              </a:rPr>
              <a:t>Everything an educator needs to teach, sell, and grow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2296" cy="15727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9047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6B35"/>
                </a:solidFill>
                <a:latin typeface="Calibri"/>
              </a:rPr>
              <a:t>Create Batches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6596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Organize courses into batches with sections and sub-sections. Structure content just like a classroom syllabus</a:t>
            </a:r>
            <a:r>
              <a:rPr sz="1100" b="0" i="0" dirty="0">
                <a:solidFill>
                  <a:srgbClr val="B0BED4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82296" cy="157276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49047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2CB"/>
                </a:solidFill>
                <a:latin typeface="Calibri"/>
              </a:rPr>
              <a:t>Upload Video Lectures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6596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Upload videos to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Cloudinary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CDN — auto-delivered to students worldwide with adaptive streaming.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39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063239"/>
            <a:ext cx="82296" cy="15727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278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2783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C107"/>
                </a:solidFill>
                <a:latin typeface="Calibri"/>
              </a:rPr>
              <a:t>Sell 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0332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Set your own price for each course. Free or paid — you decide.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Razorpay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handles all payments securely.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63239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063239"/>
            <a:ext cx="82296" cy="157276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278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2783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D48A"/>
                </a:solidFill>
                <a:latin typeface="Calibri"/>
              </a:rPr>
              <a:t>Total Earnings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0332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Real-time dashboard showing total revenue, per-course earnings breakdown, and payment history</a:t>
            </a:r>
            <a:r>
              <a:rPr sz="1100" b="0" i="0" dirty="0">
                <a:solidFill>
                  <a:srgbClr val="B0BED4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060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2296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9651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6519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ED"/>
                </a:solidFill>
                <a:latin typeface="Calibri"/>
              </a:rPr>
              <a:t>Total Students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44068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See exactly how many students enrolled in each course and overall — understand your reach and impact.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800600"/>
            <a:ext cx="5577840" cy="1572768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4800600"/>
            <a:ext cx="82296" cy="15727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9651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965192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F4444"/>
                </a:solidFill>
                <a:latin typeface="Calibri"/>
              </a:rPr>
              <a:t>Reviews &amp; Ratings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440680"/>
            <a:ext cx="443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ED4"/>
                </a:solidFill>
                <a:latin typeface="Calibri"/>
              </a:rPr>
              <a:t>Read every student review and overall rating per course — use feedback to improve and grow your audience.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👨‍🎓  Student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5577"/>
                </a:solidFill>
                <a:latin typeface="Calibri"/>
              </a:rPr>
              <a:t>From signup to course completion — a seamless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417320"/>
            <a:ext cx="502920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435608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Sign Up &amp;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4466"/>
                </a:solidFill>
                <a:latin typeface="Calibri"/>
              </a:rPr>
              <a:t>Register → receive OTP on email → verify → account ready in under 60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749039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1" y="1417320"/>
            <a:ext cx="50292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1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1" y="1435608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Browse Courses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075688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4466"/>
                </a:solidFill>
                <a:latin typeface="Calibri"/>
              </a:rPr>
              <a:t>Explore IIT JEE, NEET, Aptitude, Placement, PDF Notes. Filter free or paid</a:t>
            </a:r>
            <a:r>
              <a:rPr sz="1100" b="0" i="0" dirty="0">
                <a:solidFill>
                  <a:srgbClr val="334466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23444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3749039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48471" y="1417320"/>
            <a:ext cx="50292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435608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Enroll Instantly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075688"/>
            <a:ext cx="34564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4466"/>
                </a:solidFill>
                <a:latin typeface="Calibri"/>
              </a:rPr>
              <a:t>Free courses: one-click enroll. Paid courses: secure </a:t>
            </a:r>
            <a:r>
              <a:rPr sz="1400" b="0" i="0" dirty="0" err="1">
                <a:solidFill>
                  <a:srgbClr val="334466"/>
                </a:solidFill>
                <a:latin typeface="Calibri"/>
              </a:rPr>
              <a:t>Razorpay</a:t>
            </a:r>
            <a:r>
              <a:rPr sz="1400" b="0" i="0" dirty="0">
                <a:solidFill>
                  <a:srgbClr val="334466"/>
                </a:solidFill>
                <a:latin typeface="Calibri"/>
              </a:rPr>
              <a:t> checkout with confirmation email.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3749039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" y="3931920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950207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Watch &amp;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590288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4466"/>
                </a:solidFill>
                <a:latin typeface="Calibri"/>
              </a:rPr>
              <a:t>Stream video lectures via </a:t>
            </a:r>
            <a:r>
              <a:rPr sz="1400" b="0" i="0" dirty="0" err="1">
                <a:solidFill>
                  <a:srgbClr val="334466"/>
                </a:solidFill>
                <a:latin typeface="Calibri"/>
              </a:rPr>
              <a:t>Cloudinary</a:t>
            </a:r>
            <a:r>
              <a:rPr sz="1400" b="0" i="0" dirty="0">
                <a:solidFill>
                  <a:srgbClr val="334466"/>
                </a:solidFill>
                <a:latin typeface="Calibri"/>
              </a:rPr>
              <a:t> CDN. Download PDF notes for offline revision.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749039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51959" y="3749039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16551" y="3931920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551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1" y="3950207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70E27"/>
                </a:solidFill>
                <a:latin typeface="Calibri"/>
              </a:rPr>
              <a:t>Practice</a:t>
            </a:r>
            <a:r>
              <a:rPr lang="en-US" sz="1300" b="1" dirty="0">
                <a:solidFill>
                  <a:srgbClr val="070E27"/>
                </a:solidFill>
                <a:latin typeface="Calibri"/>
              </a:rPr>
              <a:t> </a:t>
            </a:r>
            <a:endParaRPr sz="1300" b="1" i="0" dirty="0">
              <a:solidFill>
                <a:srgbClr val="070E27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16551" y="4590288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334466"/>
                </a:solidFill>
                <a:latin typeface="Calibri"/>
              </a:rPr>
              <a:t>Practice Q A and Prepare accordingly like Aptitude IIT NEET etc.</a:t>
            </a:r>
            <a:endParaRPr sz="1400" b="0" i="0" dirty="0">
              <a:solidFill>
                <a:srgbClr val="334466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83879" y="3749039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83879" y="3749039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48471" y="3931920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48471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E27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3950207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Rate &amp;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590288"/>
            <a:ext cx="34564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4466"/>
                </a:solidFill>
                <a:latin typeface="Calibri"/>
              </a:rPr>
              <a:t>Leave a star rating + written review. Help fellow students and give instructors feedback</a:t>
            </a:r>
            <a:r>
              <a:rPr sz="1100" b="0" i="0" dirty="0">
                <a:solidFill>
                  <a:srgbClr val="3344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💳  Razorpay Payment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Industry-standard payment gateway ensuring secure, seamless course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40628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41732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7451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2CB"/>
                </a:solidFill>
                <a:latin typeface="Calibri"/>
              </a:rPr>
              <a:t>Student Selects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Student browses catalog, clicks 'Enroll Now' on a paid course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49039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1" y="141732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187451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C107"/>
                </a:solidFill>
                <a:latin typeface="Calibri"/>
              </a:rPr>
              <a:t>Order Created (Backend</a:t>
            </a:r>
            <a:r>
              <a:rPr sz="1300" b="1" i="0" dirty="0">
                <a:solidFill>
                  <a:srgbClr val="FFC107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2331720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Express server calls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Razorpay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API → returns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order_id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to frontend.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749039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41732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7451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00D48A"/>
                </a:solidFill>
                <a:latin typeface="Calibri"/>
              </a:rPr>
              <a:t>Razorpay</a:t>
            </a:r>
            <a:r>
              <a:rPr sz="1600" b="1" i="0" dirty="0">
                <a:solidFill>
                  <a:srgbClr val="00D48A"/>
                </a:solidFill>
                <a:latin typeface="Calibri"/>
              </a:rPr>
              <a:t> Checkout Opens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331720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Native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Razorpay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popup — student pays via UPI, Card,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Netbanking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, or Wallet.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49039"/>
            <a:ext cx="3749039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840479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29767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6B35"/>
                </a:solidFill>
                <a:latin typeface="Calibri"/>
              </a:rPr>
              <a:t>Signature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754879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Backend verifies HMAC-SHA256 payment signature to prevent fraud.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749039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3749039"/>
            <a:ext cx="3749039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1" y="3840479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1" y="429767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ED"/>
                </a:solidFill>
                <a:latin typeface="Calibri"/>
              </a:rPr>
              <a:t>Enrollment Confirmed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1" y="4754879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  <a:latin typeface="Calibri"/>
              </a:rPr>
              <a:t>Student added to course's </a:t>
            </a:r>
            <a:r>
              <a:rPr sz="1400" b="0" i="0" dirty="0" err="1">
                <a:solidFill>
                  <a:srgbClr val="B0BED4"/>
                </a:solidFill>
                <a:latin typeface="Calibri"/>
              </a:rPr>
              <a:t>enrolledStudents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[ ] in MongoDB Atlas.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49039"/>
            <a:ext cx="3749039" cy="21945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749039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1" y="3840479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70E27"/>
                </a:solidFill>
                <a:latin typeface="Calibri"/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297679"/>
            <a:ext cx="3456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F4444"/>
                </a:solidFill>
                <a:latin typeface="Calibri"/>
              </a:rPr>
              <a:t>Email Receipt 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754879"/>
            <a:ext cx="3456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0BED4"/>
                </a:solidFill>
                <a:latin typeface="Calibri"/>
              </a:rPr>
              <a:t>Nodemailer</a:t>
            </a:r>
            <a:r>
              <a:rPr sz="1400" b="0" i="0" dirty="0">
                <a:solidFill>
                  <a:srgbClr val="B0BED4"/>
                </a:solidFill>
                <a:latin typeface="Calibri"/>
              </a:rPr>
              <a:t> sends payment confirmation + course welcome email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💡 Challenges &amp;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4300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JWT Refresh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023769"/>
                </a:solidFill>
                <a:latin typeface="Calibri"/>
              </a:rPr>
              <a:t>Implementing secure token refresh without re-login — solved with </a:t>
            </a:r>
            <a:r>
              <a:rPr sz="1400" b="0" i="0" dirty="0" err="1">
                <a:solidFill>
                  <a:srgbClr val="023769"/>
                </a:solidFill>
                <a:latin typeface="Calibri"/>
              </a:rPr>
              <a:t>httpOnly</a:t>
            </a:r>
            <a:r>
              <a:rPr sz="1400" b="0" i="0" dirty="0">
                <a:solidFill>
                  <a:srgbClr val="023769"/>
                </a:solidFill>
                <a:latin typeface="Calibri"/>
              </a:rPr>
              <a:t> cookies and refresh token rotation.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14300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0D1B2A"/>
                </a:solidFill>
                <a:latin typeface="Calibri"/>
              </a:rPr>
              <a:t>Razorpay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023769"/>
                </a:solidFill>
                <a:latin typeface="Calibri"/>
              </a:rPr>
              <a:t>Payment signature verification using HMAC-SHA256 to prevent fraud — required deep dive into crypto module.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1752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D1B2A"/>
                </a:solidFill>
                <a:latin typeface="Calibri"/>
              </a:rPr>
              <a:t>Data Collection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39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dirty="0">
                <a:solidFill>
                  <a:srgbClr val="023769"/>
                </a:solidFill>
                <a:latin typeface="Calibri"/>
              </a:rPr>
              <a:t>Collect Data and cleaning it using </a:t>
            </a:r>
            <a:r>
              <a:rPr lang="en-US" sz="1400" b="0" i="0" dirty="0" err="1">
                <a:solidFill>
                  <a:srgbClr val="023769"/>
                </a:solidFill>
                <a:latin typeface="Calibri"/>
              </a:rPr>
              <a:t>Jupyter</a:t>
            </a:r>
            <a:r>
              <a:rPr lang="en-US" sz="1400" b="0" i="0" dirty="0">
                <a:solidFill>
                  <a:srgbClr val="023769"/>
                </a:solidFill>
                <a:latin typeface="Calibri"/>
              </a:rPr>
              <a:t> Lab and Python</a:t>
            </a:r>
            <a:endParaRPr sz="1400" b="0" i="0" dirty="0">
              <a:solidFill>
                <a:srgbClr val="023769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01752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Nested 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39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023769"/>
                </a:solidFill>
                <a:latin typeface="Calibri"/>
              </a:rPr>
              <a:t>Designing Course → Section → </a:t>
            </a:r>
            <a:r>
              <a:rPr sz="1400" b="0" i="0" dirty="0" err="1">
                <a:solidFill>
                  <a:srgbClr val="023769"/>
                </a:solidFill>
                <a:latin typeface="Calibri"/>
              </a:rPr>
              <a:t>SubSection</a:t>
            </a:r>
            <a:r>
              <a:rPr sz="1400" b="0" i="0" dirty="0">
                <a:solidFill>
                  <a:srgbClr val="023769"/>
                </a:solidFill>
                <a:latin typeface="Calibri"/>
              </a:rPr>
              <a:t> schema relationships in MongoDB with proper population queries</a:t>
            </a:r>
            <a:r>
              <a:rPr sz="1100" b="0" i="0" dirty="0">
                <a:solidFill>
                  <a:srgbClr val="023769"/>
                </a:solidFill>
                <a:latin typeface="Calibri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9204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Role-Based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59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023769"/>
                </a:solidFill>
                <a:latin typeface="Calibri"/>
              </a:rPr>
              <a:t>Implementing middleware that checks both JWT validity and user role (Student vs Instructor) for every endpoint</a:t>
            </a:r>
            <a:r>
              <a:rPr sz="1100" b="0" i="0" dirty="0">
                <a:solidFill>
                  <a:srgbClr val="023769"/>
                </a:solidFill>
                <a:latin typeface="Calibri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79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892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89204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Email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59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023769"/>
                </a:solidFill>
                <a:latin typeface="Calibri"/>
              </a:rPr>
              <a:t>Building responsive HTML email templates for OTP, enrollment confirmation, and password reset 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70E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🔐  Login Page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455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Secure JWT-based authentication for students and instructors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C2CB"/>
            </a:solidFill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00C2CB"/>
            </a:solidFill>
            <a:prstDash val="dash"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C2C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 Insert Login Page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 Flow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C2C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C2CB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CardDot1"/>
          <p:cNvSpPr/>
          <p:nvPr/>
        </p:nvSpPr>
        <p:spPr>
          <a:xfrm>
            <a:off x="7860000" y="2287994"/>
            <a:ext cx="120000" cy="1200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CardText1"/>
          <p:cNvSpPr txBox="1"/>
          <p:nvPr/>
        </p:nvSpPr>
        <p:spPr>
          <a:xfrm>
            <a:off x="8060000" y="205900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Email &amp; password login with JWT token generation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C2CB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CardDot2"/>
          <p:cNvSpPr/>
          <p:nvPr/>
        </p:nvSpPr>
        <p:spPr>
          <a:xfrm>
            <a:off x="7897200" y="3155640"/>
            <a:ext cx="120000" cy="1200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CardText2"/>
          <p:cNvSpPr txBox="1"/>
          <p:nvPr/>
        </p:nvSpPr>
        <p:spPr>
          <a:xfrm>
            <a:off x="8060000" y="3049000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OTP-based verification for account security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C2CB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CardDot3"/>
          <p:cNvSpPr/>
          <p:nvPr/>
        </p:nvSpPr>
        <p:spPr>
          <a:xfrm>
            <a:off x="7957200" y="4171576"/>
            <a:ext cx="120000" cy="1200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FCardText3"/>
          <p:cNvSpPr txBox="1"/>
          <p:nvPr/>
        </p:nvSpPr>
        <p:spPr>
          <a:xfrm>
            <a:off x="8140000" y="4010256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Role-based redirect: Student vs Instructor dashboard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C2CB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FCardDot4"/>
          <p:cNvSpPr/>
          <p:nvPr/>
        </p:nvSpPr>
        <p:spPr>
          <a:xfrm>
            <a:off x="7968387" y="5205329"/>
            <a:ext cx="120000" cy="1200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CardText4"/>
          <p:cNvSpPr txBox="1"/>
          <p:nvPr/>
        </p:nvSpPr>
        <p:spPr>
          <a:xfrm>
            <a:off x="8168387" y="5075640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Forgot password flow with email reset link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058AE96-75E1-C74E-1207-4B9F41603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52" y="1123897"/>
            <a:ext cx="7028388" cy="54965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📝  Signup Page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Onboard in under 60 seconds with OTP email verification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7C3AED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7C3AED"/>
                </a:solidFill>
                <a:latin typeface="Calibri"/>
              </a:rPr>
              <a:t>[ Insert Signup Page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7C3AE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28785" y="2032905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Name, email, password &amp; role selection (Student / Instructor)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7C3AE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08387" y="3034781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OTP sent to email — verified before account activation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7C3AE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28785" y="4069911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bcrypt password hashing on the backend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7C3AED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08387" y="507000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Instant redirect to dashboard after successful signup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73126CF-036D-4543-F7B9-FC7F58B12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8" y="1093561"/>
            <a:ext cx="7099960" cy="54983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💰  Paid Courses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Premium content managed by instructors with Razorpay checkout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FFC107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FC107"/>
                </a:solidFill>
                <a:latin typeface="Calibri"/>
              </a:rPr>
              <a:t>[ Insert Paid Courses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Paid Access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C107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C10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016282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Course cards with price, instructor name &amp; ratings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C10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066896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Razorpay payment gateway integration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C10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085640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Enrollment confirmed via email after payment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C10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36166" y="4970969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Access locked until payment verified by backend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48C93AC-0D0B-32D3-252C-31CF7317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61532"/>
            <a:ext cx="7320040" cy="30769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B64ECDD-9E3E-5118-DB6E-24CB0AA8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42"/>
          <a:stretch>
            <a:fillRect/>
          </a:stretch>
        </p:blipFill>
        <p:spPr>
          <a:xfrm>
            <a:off x="365615" y="4238467"/>
            <a:ext cx="7334385" cy="23891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🆓  Free Courses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Zero-barrier learning for every student regardless of budget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D4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00D48A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00D48A"/>
                </a:solidFill>
                <a:latin typeface="Calibri"/>
              </a:rPr>
              <a:t>[ Insert Free Courses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Free Access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D48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096111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no payment required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D48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03839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Full video lecture access via </a:t>
            </a:r>
            <a:r>
              <a:rPr lang="en-US" sz="1400" b="0" i="0" dirty="0" err="1">
                <a:solidFill>
                  <a:srgbClr val="AABBCC"/>
                </a:solidFill>
                <a:latin typeface="Calibri"/>
              </a:rPr>
              <a:t>Youtube</a:t>
            </a:r>
            <a:r>
              <a:rPr lang="en-US" sz="1400" b="0" i="0" dirty="0">
                <a:solidFill>
                  <a:srgbClr val="AABBCC"/>
                </a:solidFill>
                <a:latin typeface="Calibri"/>
              </a:rPr>
              <a:t> Private and public Structure Playlist</a:t>
            </a:r>
            <a:endParaRPr sz="14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D48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077688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Available to all registered users instantly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00D48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50914" y="4977688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Covers </a:t>
            </a:r>
            <a:r>
              <a:rPr lang="en-US" sz="1400" b="0" i="0" dirty="0">
                <a:solidFill>
                  <a:srgbClr val="AABBCC"/>
                </a:solidFill>
                <a:latin typeface="Calibri"/>
              </a:rPr>
              <a:t>Development</a:t>
            </a:r>
            <a:r>
              <a:rPr sz="1400" b="0" i="0" dirty="0">
                <a:solidFill>
                  <a:srgbClr val="AABBCC"/>
                </a:solidFill>
                <a:latin typeface="Calibri"/>
              </a:rPr>
              <a:t>,, Aptitude &amp; general subjects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E477F3A-DA0A-C7AF-4B7D-0FD3BA0D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227"/>
          <a:stretch>
            <a:fillRect/>
          </a:stretch>
        </p:blipFill>
        <p:spPr>
          <a:xfrm>
            <a:off x="291694" y="4552148"/>
            <a:ext cx="7118630" cy="1990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A9EFB3-1A69-10C0-E9EE-4FE9B9CE5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" y="1146543"/>
            <a:ext cx="7159960" cy="33690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📄  PDF Notes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Topic-wise downloadable notes for offline revision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FF6B35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F6B35"/>
                </a:solidFill>
                <a:latin typeface="Calibri"/>
              </a:rPr>
              <a:t>[ Insert PDF Notes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Study Material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6B35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19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Chapter-wise PDF notes for JEE, NEET &amp; Placement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6B35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18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Download available for both free and paid users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6B35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17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Cloudinary storage with fast CDN delivery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FF6B35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60000" y="516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Organized by subject, topic &amp; difficulty level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92D1119-1E2F-152E-F908-58D012B7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53702"/>
            <a:ext cx="7320040" cy="30762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6E7580B-9AB0-49A5-5496-BADFB9E52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37"/>
          <a:stretch>
            <a:fillRect/>
          </a:stretch>
        </p:blipFill>
        <p:spPr>
          <a:xfrm>
            <a:off x="320040" y="4230710"/>
            <a:ext cx="7398486" cy="2359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🧮  Aptitude Section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Placement-ready MCQs with solutions for campus recruitment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EF4444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EF4444"/>
                </a:solidFill>
                <a:latin typeface="Calibri"/>
              </a:rPr>
              <a:t>[ Insert Aptitude Section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Aptitude Prep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F4444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05161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Quantitative, Logical Reasoning &amp; Verbal Ability MCQs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F4444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02839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Topic-wise question sets with detailed solutions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F4444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076111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Difficulty filters: Easy / Medium / Hard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F4444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60000" y="5014780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Targeted for TCS, Infosys, Wipro &amp; top MNC patterns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16FE48-EBAF-F3D0-CEDF-419D74F8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8" y="1110000"/>
            <a:ext cx="7099960" cy="54776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⚗️  Chemistry PYQ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45577"/>
                </a:solidFill>
                <a:latin typeface="Calibri"/>
              </a:rPr>
              <a:t>Previous year questions with structured NEET solutions</a:t>
            </a:r>
          </a:p>
        </p:txBody>
      </p:sp>
      <p:sp>
        <p:nvSpPr>
          <p:cNvPr id="6" name="ScreenshotBorder"/>
          <p:cNvSpPr/>
          <p:nvPr/>
        </p:nvSpPr>
        <p:spPr>
          <a:xfrm>
            <a:off x="320040" y="1150000"/>
            <a:ext cx="7000000" cy="5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nnerHint"/>
          <p:cNvSpPr/>
          <p:nvPr/>
        </p:nvSpPr>
        <p:spPr>
          <a:xfrm>
            <a:off x="520040" y="1350000"/>
            <a:ext cx="6600000" cy="5000000"/>
          </a:xfrm>
          <a:prstGeom prst="rect">
            <a:avLst/>
          </a:prstGeom>
          <a:solidFill>
            <a:srgbClr val="F0F4FF"/>
          </a:solidFill>
          <a:ln w="19050" cmpd="sng">
            <a:solidFill>
              <a:srgbClr val="3B82F6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800" b="0" i="0" dirty="0">
                <a:solidFill>
                  <a:srgbClr val="3B82F6"/>
                </a:solidFill>
                <a:latin typeface="Calibri"/>
              </a:rPr>
              <a:t>[ Insert Chemistry PYQ Screenshot Here ]</a:t>
            </a:r>
          </a:p>
        </p:txBody>
      </p:sp>
      <p:sp>
        <p:nvSpPr>
          <p:cNvPr id="8" name="ScreenshotTopBar"/>
          <p:cNvSpPr/>
          <p:nvPr/>
        </p:nvSpPr>
        <p:spPr>
          <a:xfrm>
            <a:off x="320040" y="1150000"/>
            <a:ext cx="7000000" cy="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NEET PYQ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3B82F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19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NEET Chemistry PYQs organized by year &amp; chapter</a:t>
            </a: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3B82F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18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Inorganic, Organic &amp; Physical chemistry sections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3B82F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17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Verified solutions with concept explanation</a:t>
            </a: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3B82F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60000" y="5160000"/>
            <a:ext cx="36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CC"/>
                </a:solidFill>
                <a:latin typeface="Calibri"/>
              </a:rPr>
              <a:t>Filter by topic: Mole concept, Equilibrium, Bonding, etc.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72D2BD-575E-7E3B-D749-3F41E3D9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00730"/>
            <a:ext cx="7039959" cy="5449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60000"/>
            <a:ext cx="750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0E27"/>
                </a:solidFill>
                <a:latin typeface="Calibri"/>
              </a:rPr>
              <a:t>🎯  Interview Preparation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730000"/>
            <a:ext cx="7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445577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445577"/>
                </a:solidFill>
                <a:latin typeface="Calibri"/>
              </a:rPr>
              <a:t>, HR rounds &amp; </a:t>
            </a:r>
            <a:r>
              <a:rPr lang="en-US" sz="1400" b="0" i="0" dirty="0">
                <a:solidFill>
                  <a:srgbClr val="445577"/>
                </a:solidFill>
                <a:latin typeface="Calibri"/>
              </a:rPr>
              <a:t>DBMS</a:t>
            </a:r>
            <a:r>
              <a:rPr sz="1400" b="0" i="0" dirty="0">
                <a:solidFill>
                  <a:srgbClr val="445577"/>
                </a:solidFill>
                <a:latin typeface="Calibri"/>
              </a:rPr>
              <a:t> for</a:t>
            </a:r>
            <a:r>
              <a:rPr lang="en-US" sz="1400" b="0" i="0" dirty="0">
                <a:solidFill>
                  <a:srgbClr val="445577"/>
                </a:solidFill>
                <a:latin typeface="Calibri"/>
              </a:rPr>
              <a:t> on</a:t>
            </a:r>
            <a:r>
              <a:rPr sz="1400" b="0" i="0" dirty="0">
                <a:solidFill>
                  <a:srgbClr val="445577"/>
                </a:solidFill>
                <a:latin typeface="Calibri"/>
              </a:rPr>
              <a:t> campus &amp; off-campus drives</a:t>
            </a:r>
          </a:p>
        </p:txBody>
      </p:sp>
      <p:sp>
        <p:nvSpPr>
          <p:cNvPr id="9" name="Badge"/>
          <p:cNvSpPr/>
          <p:nvPr/>
        </p:nvSpPr>
        <p:spPr>
          <a:xfrm>
            <a:off x="6600040" y="1150000"/>
            <a:ext cx="720000" cy="34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Interview Prep</a:t>
            </a:r>
          </a:p>
        </p:txBody>
      </p:sp>
      <p:sp>
        <p:nvSpPr>
          <p:cNvPr id="10" name="RightPanel"/>
          <p:cNvSpPr/>
          <p:nvPr/>
        </p:nvSpPr>
        <p:spPr>
          <a:xfrm>
            <a:off x="7620000" y="1150000"/>
            <a:ext cx="4340000" cy="5400000"/>
          </a:xfrm>
          <a:prstGeom prst="rect">
            <a:avLst/>
          </a:prstGeom>
          <a:solidFill>
            <a:srgbClr val="070E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TopBar"/>
          <p:cNvSpPr/>
          <p:nvPr/>
        </p:nvSpPr>
        <p:spPr>
          <a:xfrm>
            <a:off x="7620000" y="1150000"/>
            <a:ext cx="4340000" cy="8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ing"/>
          <p:cNvSpPr txBox="1"/>
          <p:nvPr/>
        </p:nvSpPr>
        <p:spPr>
          <a:xfrm>
            <a:off x="7780000" y="132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Key Features</a:t>
            </a:r>
          </a:p>
        </p:txBody>
      </p:sp>
      <p:sp>
        <p:nvSpPr>
          <p:cNvPr id="13" name="FCard1"/>
          <p:cNvSpPr/>
          <p:nvPr/>
        </p:nvSpPr>
        <p:spPr>
          <a:xfrm>
            <a:off x="7780000" y="180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FCardDot1"/>
          <p:cNvSpPr/>
          <p:nvPr/>
        </p:nvSpPr>
        <p:spPr>
          <a:xfrm>
            <a:off x="7860000" y="2190000"/>
            <a:ext cx="120000" cy="1200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FCardText1"/>
          <p:cNvSpPr txBox="1"/>
          <p:nvPr/>
        </p:nvSpPr>
        <p:spPr>
          <a:xfrm>
            <a:off x="8060000" y="2094000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AABBCC"/>
                </a:solidFill>
                <a:latin typeface="Calibri"/>
              </a:rPr>
              <a:t>Best for IT Engineers all at one Place</a:t>
            </a:r>
            <a:endParaRPr sz="14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16" name="FCard2"/>
          <p:cNvSpPr/>
          <p:nvPr/>
        </p:nvSpPr>
        <p:spPr>
          <a:xfrm>
            <a:off x="7780000" y="279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CardDot2"/>
          <p:cNvSpPr/>
          <p:nvPr/>
        </p:nvSpPr>
        <p:spPr>
          <a:xfrm>
            <a:off x="7860000" y="3180000"/>
            <a:ext cx="120000" cy="1200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CardText2"/>
          <p:cNvSpPr txBox="1"/>
          <p:nvPr/>
        </p:nvSpPr>
        <p:spPr>
          <a:xfrm>
            <a:off x="8060000" y="3048462"/>
            <a:ext cx="36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BBCC"/>
                </a:solidFill>
                <a:latin typeface="Calibri"/>
              </a:rPr>
              <a:t>HR interview Q&amp;A: strengths, weaknesses, situational</a:t>
            </a:r>
          </a:p>
        </p:txBody>
      </p:sp>
      <p:sp>
        <p:nvSpPr>
          <p:cNvPr id="19" name="FCard3"/>
          <p:cNvSpPr/>
          <p:nvPr/>
        </p:nvSpPr>
        <p:spPr>
          <a:xfrm>
            <a:off x="7780000" y="378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FCardDot3"/>
          <p:cNvSpPr/>
          <p:nvPr/>
        </p:nvSpPr>
        <p:spPr>
          <a:xfrm>
            <a:off x="7860000" y="4170000"/>
            <a:ext cx="120000" cy="1200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CardText3"/>
          <p:cNvSpPr txBox="1"/>
          <p:nvPr/>
        </p:nvSpPr>
        <p:spPr>
          <a:xfrm>
            <a:off x="8060000" y="4070474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AABBCC"/>
                </a:solidFill>
                <a:latin typeface="Calibri"/>
              </a:rPr>
              <a:t>DBMS, OS, Computer Networking </a:t>
            </a:r>
            <a:r>
              <a:rPr lang="en-US" sz="1400" b="0" i="0" dirty="0" err="1">
                <a:solidFill>
                  <a:srgbClr val="AABBCC"/>
                </a:solidFill>
                <a:latin typeface="Calibri"/>
              </a:rPr>
              <a:t>etc</a:t>
            </a:r>
            <a:endParaRPr sz="14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22" name="FCard4"/>
          <p:cNvSpPr/>
          <p:nvPr/>
        </p:nvSpPr>
        <p:spPr>
          <a:xfrm>
            <a:off x="7780000" y="4770000"/>
            <a:ext cx="4000000" cy="900000"/>
          </a:xfrm>
          <a:prstGeom prst="rect">
            <a:avLst/>
          </a:prstGeom>
          <a:solidFill>
            <a:srgbClr val="0F1A3A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FCardDot4"/>
          <p:cNvSpPr/>
          <p:nvPr/>
        </p:nvSpPr>
        <p:spPr>
          <a:xfrm>
            <a:off x="7860000" y="5160000"/>
            <a:ext cx="120000" cy="1200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CardText4"/>
          <p:cNvSpPr txBox="1"/>
          <p:nvPr/>
        </p:nvSpPr>
        <p:spPr>
          <a:xfrm>
            <a:off x="8023135" y="5075640"/>
            <a:ext cx="36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AABBCC"/>
                </a:solidFill>
                <a:latin typeface="Calibri"/>
              </a:rPr>
              <a:t>Practice MCQs</a:t>
            </a:r>
            <a:endParaRPr sz="1400" b="0" i="0" dirty="0">
              <a:solidFill>
                <a:srgbClr val="AABBCC"/>
              </a:solidFill>
              <a:latin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D767C01-7A40-5F3D-95C5-82BC4883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30" y="1509541"/>
            <a:ext cx="7051582" cy="46354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🙏 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Padho India — Smart Education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011680"/>
            <a:ext cx="5760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31720"/>
            <a:ext cx="2103120" cy="210312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MERN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564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MongoDB · Express
React · 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331720"/>
            <a:ext cx="2103120" cy="210312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0175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Cloud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4564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Vercel · Render
MongoDB Atlas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103120" cy="210312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175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4564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JWT · OTP
Bcrypt · HTTPS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331720"/>
            <a:ext cx="2103120" cy="2103120"/>
          </a:xfrm>
          <a:prstGeom prst="rect">
            <a:avLst/>
          </a:prstGeom>
          <a:solidFill>
            <a:srgbClr val="02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30175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19" y="34564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Razorpay
Integrated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🔗  Live Demo:  padho-india.vercel.app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  <a:latin typeface="Calibri"/>
              </a:rPr>
              <a:t>📁  GitHub:  github.com/jayjaisswal/MERN-Smart-Education-Platform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CCDD"/>
                </a:solidFill>
                <a:latin typeface="Calibri"/>
              </a:rPr>
              <a:t>Built with ❤️ by Jay Kumar  |  6-Month Industrial Training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1568</Words>
  <Application>Microsoft Office PowerPoint</Application>
  <PresentationFormat>Custom</PresentationFormat>
  <Paragraphs>270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Jaykumar</dc:creator>
  <cp:keywords/>
  <dc:description>generated using python-pptx</dc:description>
  <cp:lastModifiedBy>AccelorInterns26</cp:lastModifiedBy>
  <cp:revision>10</cp:revision>
  <dcterms:created xsi:type="dcterms:W3CDTF">2013-01-27T09:14:16Z</dcterms:created>
  <dcterms:modified xsi:type="dcterms:W3CDTF">2026-06-03T06:30:57Z</dcterms:modified>
  <cp:category/>
</cp:coreProperties>
</file>