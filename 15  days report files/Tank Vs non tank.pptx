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sldIdLst>
    <p:sldId id="256" r:id="rId2"/>
    <p:sldId id="258" r:id="rId3"/>
    <p:sldId id="261" r:id="rId4"/>
    <p:sldId id="262" r:id="rId5"/>
    <p:sldId id="267" r:id="rId6"/>
    <p:sldId id="263" r:id="rId7"/>
    <p:sldId id="264" r:id="rId8"/>
    <p:sldId id="265" r:id="rId9"/>
    <p:sldId id="266" r:id="rId10"/>
    <p:sldId id="26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B08851-83BE-44DC-A524-D3895A4DBD40}" v="77" dt="2026-03-05T04:01:45.214"/>
    <p1510:client id="{7713CEDD-17D2-4823-AB2E-42413296941C}" v="2" dt="2026-03-05T04:03:14.3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315F8E-2AFD-40A4-9968-90634B43282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6684126-EAFF-4C34-96D9-45C39CF66E71}">
      <dgm:prSet phldrT="[Text]" custT="1"/>
      <dgm:spPr>
        <a:solidFill>
          <a:schemeClr val="bg2"/>
        </a:solidFill>
      </dgm:spPr>
      <dgm:t>
        <a:bodyPr/>
        <a:lstStyle/>
        <a:p>
          <a:r>
            <a:rPr lang="en-US" sz="2000" b="1">
              <a:latin typeface="Aptos" panose="020B0004020202020204" pitchFamily="34" charset="0"/>
              <a:cs typeface="Times New Roman" panose="02020603050405020304" pitchFamily="18" charset="0"/>
            </a:rPr>
            <a:t>For Each file we have calculated Mean, S.D, Maximum value, Minimum value, Signal energy, Peak count, Variance</a:t>
          </a:r>
        </a:p>
      </dgm:t>
    </dgm:pt>
    <dgm:pt modelId="{3DE673AC-0625-4BB1-A798-5DBAB04AF5B1}" type="parTrans" cxnId="{C72C1741-B93E-45CA-85CD-E76203A056D5}">
      <dgm:prSet/>
      <dgm:spPr/>
      <dgm:t>
        <a:bodyPr/>
        <a:lstStyle/>
        <a:p>
          <a:endParaRPr lang="en-US"/>
        </a:p>
      </dgm:t>
    </dgm:pt>
    <dgm:pt modelId="{D2528F44-7000-4DF2-ABF6-58B76ED4F6E6}" type="sibTrans" cxnId="{C72C1741-B93E-45CA-85CD-E76203A056D5}">
      <dgm:prSet/>
      <dgm:spPr/>
      <dgm:t>
        <a:bodyPr/>
        <a:lstStyle/>
        <a:p>
          <a:endParaRPr lang="en-US"/>
        </a:p>
      </dgm:t>
    </dgm:pt>
    <dgm:pt modelId="{399E5D36-F6F2-4D4A-9668-2941115F5CD1}">
      <dgm:prSet phldrT="[Text]" custT="1"/>
      <dgm:spPr>
        <a:solidFill>
          <a:schemeClr val="bg2"/>
        </a:solidFill>
      </dgm:spPr>
      <dgm:t>
        <a:bodyPr/>
        <a:lstStyle/>
        <a:p>
          <a:r>
            <a:rPr lang="en-US" sz="2000" b="1">
              <a:latin typeface="Aptos" panose="020B0004020202020204" pitchFamily="34" charset="0"/>
            </a:rPr>
            <a:t>6 features × 3 signals = 18 features we have used .</a:t>
          </a:r>
          <a:endParaRPr lang="en-US" sz="2000">
            <a:latin typeface="Aptos" panose="020B0004020202020204" pitchFamily="34" charset="0"/>
            <a:cs typeface="Times New Roman" panose="02020603050405020304" pitchFamily="18" charset="0"/>
          </a:endParaRPr>
        </a:p>
      </dgm:t>
    </dgm:pt>
    <dgm:pt modelId="{F4228B93-28C1-4886-97FB-EFB547D644BA}" type="parTrans" cxnId="{10236635-1AE6-4CC4-9425-2BC9A1229465}">
      <dgm:prSet/>
      <dgm:spPr/>
      <dgm:t>
        <a:bodyPr/>
        <a:lstStyle/>
        <a:p>
          <a:endParaRPr lang="en-US"/>
        </a:p>
      </dgm:t>
    </dgm:pt>
    <dgm:pt modelId="{F64DFEE7-3810-4FDC-8003-7B125A7F8631}" type="sibTrans" cxnId="{10236635-1AE6-4CC4-9425-2BC9A1229465}">
      <dgm:prSet/>
      <dgm:spPr/>
      <dgm:t>
        <a:bodyPr/>
        <a:lstStyle/>
        <a:p>
          <a:endParaRPr lang="en-US"/>
        </a:p>
      </dgm:t>
    </dgm:pt>
    <dgm:pt modelId="{B5DCCCB4-D6F9-4F0B-86B9-49F84AFCF4D1}">
      <dgm:prSet phldrT="[Text]" custT="1"/>
      <dgm:spPr>
        <a:solidFill>
          <a:schemeClr val="bg2"/>
        </a:solidFill>
      </dgm:spPr>
      <dgm:t>
        <a:bodyPr/>
        <a:lstStyle/>
        <a:p>
          <a:r>
            <a:rPr lang="en-US" sz="2000" b="1">
              <a:latin typeface="Aptos" panose="020B0004020202020204" pitchFamily="34" charset="0"/>
              <a:cs typeface="Times New Roman" panose="02020603050405020304" pitchFamily="18" charset="0"/>
            </a:rPr>
            <a:t>Instead of using raw Sensor data directly, we extract statistical feature from signal, also help in noise reduction</a:t>
          </a:r>
        </a:p>
      </dgm:t>
    </dgm:pt>
    <dgm:pt modelId="{CEC0E799-F1E7-44BF-A10C-671F1345F004}" type="parTrans" cxnId="{E3A1A39A-337E-4A06-8E6C-BCB6AF48F7C8}">
      <dgm:prSet/>
      <dgm:spPr/>
      <dgm:t>
        <a:bodyPr/>
        <a:lstStyle/>
        <a:p>
          <a:endParaRPr lang="en-US"/>
        </a:p>
      </dgm:t>
    </dgm:pt>
    <dgm:pt modelId="{2ADB7E27-32E4-4CA9-B6A1-DAF0D49EB489}" type="sibTrans" cxnId="{E3A1A39A-337E-4A06-8E6C-BCB6AF48F7C8}">
      <dgm:prSet/>
      <dgm:spPr/>
      <dgm:t>
        <a:bodyPr/>
        <a:lstStyle/>
        <a:p>
          <a:endParaRPr lang="en-US"/>
        </a:p>
      </dgm:t>
    </dgm:pt>
    <dgm:pt modelId="{586A15BA-DFFA-4CD3-82DB-861443724E24}" type="pres">
      <dgm:prSet presAssocID="{0F315F8E-2AFD-40A4-9968-90634B432825}" presName="linear" presStyleCnt="0">
        <dgm:presLayoutVars>
          <dgm:animLvl val="lvl"/>
          <dgm:resizeHandles val="exact"/>
        </dgm:presLayoutVars>
      </dgm:prSet>
      <dgm:spPr/>
    </dgm:pt>
    <dgm:pt modelId="{42824ED4-01A3-4E9C-BFA9-5F7FE1FF590B}" type="pres">
      <dgm:prSet presAssocID="{36684126-EAFF-4C34-96D9-45C39CF66E71}" presName="parentText" presStyleLbl="node1" presStyleIdx="0" presStyleCnt="3">
        <dgm:presLayoutVars>
          <dgm:chMax val="0"/>
          <dgm:bulletEnabled val="1"/>
        </dgm:presLayoutVars>
      </dgm:prSet>
      <dgm:spPr/>
    </dgm:pt>
    <dgm:pt modelId="{224D8DCF-9282-4A89-B5E5-4D8429DEE437}" type="pres">
      <dgm:prSet presAssocID="{D2528F44-7000-4DF2-ABF6-58B76ED4F6E6}" presName="spacer" presStyleCnt="0"/>
      <dgm:spPr/>
    </dgm:pt>
    <dgm:pt modelId="{CBC82FA3-A323-44B0-83C3-2261C2E3BD80}" type="pres">
      <dgm:prSet presAssocID="{399E5D36-F6F2-4D4A-9668-2941115F5CD1}" presName="parentText" presStyleLbl="node1" presStyleIdx="1" presStyleCnt="3">
        <dgm:presLayoutVars>
          <dgm:chMax val="0"/>
          <dgm:bulletEnabled val="1"/>
        </dgm:presLayoutVars>
      </dgm:prSet>
      <dgm:spPr/>
    </dgm:pt>
    <dgm:pt modelId="{378D977D-FFF1-4E09-9F52-5AD32C4E671E}" type="pres">
      <dgm:prSet presAssocID="{F64DFEE7-3810-4FDC-8003-7B125A7F8631}" presName="spacer" presStyleCnt="0"/>
      <dgm:spPr/>
    </dgm:pt>
    <dgm:pt modelId="{C75BB420-AE44-4D29-B184-DB599A8FB7A9}" type="pres">
      <dgm:prSet presAssocID="{B5DCCCB4-D6F9-4F0B-86B9-49F84AFCF4D1}" presName="parentText" presStyleLbl="node1" presStyleIdx="2" presStyleCnt="3">
        <dgm:presLayoutVars>
          <dgm:chMax val="0"/>
          <dgm:bulletEnabled val="1"/>
        </dgm:presLayoutVars>
      </dgm:prSet>
      <dgm:spPr/>
    </dgm:pt>
  </dgm:ptLst>
  <dgm:cxnLst>
    <dgm:cxn modelId="{DD1B9D0A-5E02-4D40-8CEB-49001AEED06A}" type="presOf" srcId="{B5DCCCB4-D6F9-4F0B-86B9-49F84AFCF4D1}" destId="{C75BB420-AE44-4D29-B184-DB599A8FB7A9}" srcOrd="0" destOrd="0" presId="urn:microsoft.com/office/officeart/2005/8/layout/vList2"/>
    <dgm:cxn modelId="{91439213-143A-4AD1-BDD3-BF16529B378D}" type="presOf" srcId="{399E5D36-F6F2-4D4A-9668-2941115F5CD1}" destId="{CBC82FA3-A323-44B0-83C3-2261C2E3BD80}" srcOrd="0" destOrd="0" presId="urn:microsoft.com/office/officeart/2005/8/layout/vList2"/>
    <dgm:cxn modelId="{10236635-1AE6-4CC4-9425-2BC9A1229465}" srcId="{0F315F8E-2AFD-40A4-9968-90634B432825}" destId="{399E5D36-F6F2-4D4A-9668-2941115F5CD1}" srcOrd="1" destOrd="0" parTransId="{F4228B93-28C1-4886-97FB-EFB547D644BA}" sibTransId="{F64DFEE7-3810-4FDC-8003-7B125A7F8631}"/>
    <dgm:cxn modelId="{C72C1741-B93E-45CA-85CD-E76203A056D5}" srcId="{0F315F8E-2AFD-40A4-9968-90634B432825}" destId="{36684126-EAFF-4C34-96D9-45C39CF66E71}" srcOrd="0" destOrd="0" parTransId="{3DE673AC-0625-4BB1-A798-5DBAB04AF5B1}" sibTransId="{D2528F44-7000-4DF2-ABF6-58B76ED4F6E6}"/>
    <dgm:cxn modelId="{D3E0B592-5810-40FA-8CCA-B7E80E9F93A3}" type="presOf" srcId="{0F315F8E-2AFD-40A4-9968-90634B432825}" destId="{586A15BA-DFFA-4CD3-82DB-861443724E24}" srcOrd="0" destOrd="0" presId="urn:microsoft.com/office/officeart/2005/8/layout/vList2"/>
    <dgm:cxn modelId="{E3A1A39A-337E-4A06-8E6C-BCB6AF48F7C8}" srcId="{0F315F8E-2AFD-40A4-9968-90634B432825}" destId="{B5DCCCB4-D6F9-4F0B-86B9-49F84AFCF4D1}" srcOrd="2" destOrd="0" parTransId="{CEC0E799-F1E7-44BF-A10C-671F1345F004}" sibTransId="{2ADB7E27-32E4-4CA9-B6A1-DAF0D49EB489}"/>
    <dgm:cxn modelId="{B947B2D6-BBB7-4EEA-A162-FFFEDD567F0A}" type="presOf" srcId="{36684126-EAFF-4C34-96D9-45C39CF66E71}" destId="{42824ED4-01A3-4E9C-BFA9-5F7FE1FF590B}" srcOrd="0" destOrd="0" presId="urn:microsoft.com/office/officeart/2005/8/layout/vList2"/>
    <dgm:cxn modelId="{8FD1EC43-0065-46FE-B3C8-18D741E950FB}" type="presParOf" srcId="{586A15BA-DFFA-4CD3-82DB-861443724E24}" destId="{42824ED4-01A3-4E9C-BFA9-5F7FE1FF590B}" srcOrd="0" destOrd="0" presId="urn:microsoft.com/office/officeart/2005/8/layout/vList2"/>
    <dgm:cxn modelId="{63C43213-7075-4876-85C0-766DDAD61B8C}" type="presParOf" srcId="{586A15BA-DFFA-4CD3-82DB-861443724E24}" destId="{224D8DCF-9282-4A89-B5E5-4D8429DEE437}" srcOrd="1" destOrd="0" presId="urn:microsoft.com/office/officeart/2005/8/layout/vList2"/>
    <dgm:cxn modelId="{BB225E15-BE0F-40D9-BF97-893C9216299C}" type="presParOf" srcId="{586A15BA-DFFA-4CD3-82DB-861443724E24}" destId="{CBC82FA3-A323-44B0-83C3-2261C2E3BD80}" srcOrd="2" destOrd="0" presId="urn:microsoft.com/office/officeart/2005/8/layout/vList2"/>
    <dgm:cxn modelId="{4982EDBE-7A96-49EA-AC39-D0669C003C3C}" type="presParOf" srcId="{586A15BA-DFFA-4CD3-82DB-861443724E24}" destId="{378D977D-FFF1-4E09-9F52-5AD32C4E671E}" srcOrd="3" destOrd="0" presId="urn:microsoft.com/office/officeart/2005/8/layout/vList2"/>
    <dgm:cxn modelId="{FF0F877C-A8C5-4A7A-867D-BBD9243CB881}" type="presParOf" srcId="{586A15BA-DFFA-4CD3-82DB-861443724E24}" destId="{C75BB420-AE44-4D29-B184-DB599A8FB7A9}"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824ED4-01A3-4E9C-BFA9-5F7FE1FF590B}">
      <dsp:nvSpPr>
        <dsp:cNvPr id="0" name=""/>
        <dsp:cNvSpPr/>
      </dsp:nvSpPr>
      <dsp:spPr>
        <a:xfrm>
          <a:off x="0" y="85340"/>
          <a:ext cx="8946541" cy="1216800"/>
        </a:xfrm>
        <a:prstGeom prst="roundRect">
          <a:avLst/>
        </a:prstGeom>
        <a:solidFill>
          <a:schemeClr val="bg2"/>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latin typeface="Aptos" panose="020B0004020202020204" pitchFamily="34" charset="0"/>
              <a:cs typeface="Times New Roman" panose="02020603050405020304" pitchFamily="18" charset="0"/>
            </a:rPr>
            <a:t>For Each file we have calculated Mean, S.D, Maximum value, Minimum value, Signal energy, Peak count, Variance</a:t>
          </a:r>
        </a:p>
      </dsp:txBody>
      <dsp:txXfrm>
        <a:off x="59399" y="144739"/>
        <a:ext cx="8827743" cy="1098002"/>
      </dsp:txXfrm>
    </dsp:sp>
    <dsp:sp modelId="{CBC82FA3-A323-44B0-83C3-2261C2E3BD80}">
      <dsp:nvSpPr>
        <dsp:cNvPr id="0" name=""/>
        <dsp:cNvSpPr/>
      </dsp:nvSpPr>
      <dsp:spPr>
        <a:xfrm>
          <a:off x="0" y="1489340"/>
          <a:ext cx="8946541" cy="1216800"/>
        </a:xfrm>
        <a:prstGeom prst="roundRect">
          <a:avLst/>
        </a:prstGeom>
        <a:solidFill>
          <a:schemeClr val="bg2"/>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latin typeface="Aptos" panose="020B0004020202020204" pitchFamily="34" charset="0"/>
            </a:rPr>
            <a:t>6 features × 3 signals = 18 features we have used .</a:t>
          </a:r>
          <a:endParaRPr lang="en-US" sz="2000" kern="1200">
            <a:latin typeface="Aptos" panose="020B0004020202020204" pitchFamily="34" charset="0"/>
            <a:cs typeface="Times New Roman" panose="02020603050405020304" pitchFamily="18" charset="0"/>
          </a:endParaRPr>
        </a:p>
      </dsp:txBody>
      <dsp:txXfrm>
        <a:off x="59399" y="1548739"/>
        <a:ext cx="8827743" cy="1098002"/>
      </dsp:txXfrm>
    </dsp:sp>
    <dsp:sp modelId="{C75BB420-AE44-4D29-B184-DB599A8FB7A9}">
      <dsp:nvSpPr>
        <dsp:cNvPr id="0" name=""/>
        <dsp:cNvSpPr/>
      </dsp:nvSpPr>
      <dsp:spPr>
        <a:xfrm>
          <a:off x="0" y="2893340"/>
          <a:ext cx="8946541" cy="1216800"/>
        </a:xfrm>
        <a:prstGeom prst="roundRect">
          <a:avLst/>
        </a:prstGeom>
        <a:solidFill>
          <a:schemeClr val="bg2"/>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latin typeface="Aptos" panose="020B0004020202020204" pitchFamily="34" charset="0"/>
              <a:cs typeface="Times New Roman" panose="02020603050405020304" pitchFamily="18" charset="0"/>
            </a:rPr>
            <a:t>Instead of using raw Sensor data directly, we extract statistical feature from signal, also help in noise reduction</a:t>
          </a:r>
        </a:p>
      </dsp:txBody>
      <dsp:txXfrm>
        <a:off x="59399" y="2952739"/>
        <a:ext cx="8827743"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038647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18989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83972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24907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97314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186233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065200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953453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536286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2261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85056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23842402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213845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882279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108828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66633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38784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5/30/2026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807961772"/>
      </p:ext>
    </p:extLst>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jpe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26" name="Picture 2" descr="46,000+ Army Tank Stock Photos, Pictures &amp; Royalty-Free ...">
            <a:extLst>
              <a:ext uri="{FF2B5EF4-FFF2-40B4-BE49-F238E27FC236}">
                <a16:creationId xmlns:a16="http://schemas.microsoft.com/office/drawing/2014/main" id="{67F2CA3B-F928-7785-B77A-1D0C7D65A062}"/>
              </a:ext>
            </a:extLst>
          </p:cNvPr>
          <p:cNvPicPr>
            <a:picLocks noChangeAspect="1" noChangeArrowheads="1"/>
          </p:cNvPicPr>
          <p:nvPr/>
        </p:nvPicPr>
        <p:blipFill>
          <a:blip r:embed="rId3">
            <a:duotone>
              <a:prstClr val="black"/>
              <a:schemeClr val="accent5">
                <a:tint val="45000"/>
                <a:satMod val="400000"/>
              </a:schemeClr>
            </a:duotone>
            <a:alphaModFix amt="25000"/>
            <a:extLst>
              <a:ext uri="{28A0092B-C50C-407E-A947-70E740481C1C}">
                <a14:useLocalDpi xmlns:a14="http://schemas.microsoft.com/office/drawing/2010/main" val="0"/>
              </a:ext>
            </a:extLst>
          </a:blip>
          <a:srcRect t="24749"/>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12094A-9354-4F50-EEFA-DF32B59C0BE4}"/>
              </a:ext>
            </a:extLst>
          </p:cNvPr>
          <p:cNvSpPr>
            <a:spLocks noGrp="1"/>
          </p:cNvSpPr>
          <p:nvPr>
            <p:ph type="ctrTitle"/>
          </p:nvPr>
        </p:nvSpPr>
        <p:spPr>
          <a:xfrm>
            <a:off x="1154955" y="1447800"/>
            <a:ext cx="8825658" cy="3329581"/>
          </a:xfrm>
        </p:spPr>
        <p:txBody>
          <a:bodyPr>
            <a:normAutofit/>
          </a:bodyPr>
          <a:lstStyle/>
          <a:p>
            <a:r>
              <a:rPr lang="en-US" b="1"/>
              <a:t>Tank V/S Non-Tank</a:t>
            </a:r>
          </a:p>
        </p:txBody>
      </p:sp>
      <p:sp>
        <p:nvSpPr>
          <p:cNvPr id="3" name="Subtitle 2">
            <a:extLst>
              <a:ext uri="{FF2B5EF4-FFF2-40B4-BE49-F238E27FC236}">
                <a16:creationId xmlns:a16="http://schemas.microsoft.com/office/drawing/2014/main" id="{B9B2860D-CF77-C535-1BE6-5F432C56959B}"/>
              </a:ext>
            </a:extLst>
          </p:cNvPr>
          <p:cNvSpPr>
            <a:spLocks noGrp="1"/>
          </p:cNvSpPr>
          <p:nvPr>
            <p:ph type="subTitle" idx="1"/>
          </p:nvPr>
        </p:nvSpPr>
        <p:spPr>
          <a:xfrm>
            <a:off x="1154955" y="4777380"/>
            <a:ext cx="8825658" cy="861420"/>
          </a:xfrm>
        </p:spPr>
        <p:txBody>
          <a:bodyPr>
            <a:normAutofit/>
          </a:bodyPr>
          <a:lstStyle/>
          <a:p>
            <a:r>
              <a:rPr lang="en-US" b="1"/>
              <a:t>Model interpretation</a:t>
            </a:r>
          </a:p>
        </p:txBody>
      </p:sp>
      <p:sp>
        <p:nvSpPr>
          <p:cNvPr id="1035" name="Rectangle 1034">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90123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7" name="Rectangle 2086">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089" name="Rectangle 2088">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91"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093" name="Freeform: Shape 2092">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7D913FAF-390F-80CE-671C-C16476E9BFB8}"/>
              </a:ext>
            </a:extLst>
          </p:cNvPr>
          <p:cNvSpPr>
            <a:spLocks noGrp="1"/>
          </p:cNvSpPr>
          <p:nvPr>
            <p:ph type="title"/>
          </p:nvPr>
        </p:nvSpPr>
        <p:spPr>
          <a:xfrm>
            <a:off x="1103312" y="452718"/>
            <a:ext cx="8947522" cy="1400530"/>
          </a:xfrm>
        </p:spPr>
        <p:txBody>
          <a:bodyPr anchor="ctr">
            <a:normAutofit/>
          </a:bodyPr>
          <a:lstStyle/>
          <a:p>
            <a:r>
              <a:rPr lang="en-US">
                <a:solidFill>
                  <a:srgbClr val="FFFFFF"/>
                </a:solidFill>
                <a:latin typeface="Times New Roman" panose="02020603050405020304" pitchFamily="18" charset="0"/>
                <a:cs typeface="Times New Roman" panose="02020603050405020304" pitchFamily="18" charset="0"/>
              </a:rPr>
              <a:t>Data Description</a:t>
            </a:r>
          </a:p>
        </p:txBody>
      </p:sp>
      <p:sp>
        <p:nvSpPr>
          <p:cNvPr id="6" name="Content Placeholder 5">
            <a:extLst>
              <a:ext uri="{FF2B5EF4-FFF2-40B4-BE49-F238E27FC236}">
                <a16:creationId xmlns:a16="http://schemas.microsoft.com/office/drawing/2014/main" id="{79551863-D4D7-A47C-85B7-2E5314DEDA88}"/>
              </a:ext>
            </a:extLst>
          </p:cNvPr>
          <p:cNvSpPr>
            <a:spLocks noGrp="1"/>
          </p:cNvSpPr>
          <p:nvPr>
            <p:ph idx="1"/>
          </p:nvPr>
        </p:nvSpPr>
        <p:spPr>
          <a:xfrm>
            <a:off x="501445" y="2452349"/>
            <a:ext cx="10500852" cy="4234804"/>
          </a:xfrm>
        </p:spPr>
        <p:txBody>
          <a:bodyPr>
            <a:normAutofit/>
          </a:bodyPr>
          <a:lstStyle/>
          <a:p>
            <a:pPr lvl="0">
              <a:lnSpc>
                <a:spcPct val="90000"/>
              </a:lnSpc>
              <a:buNone/>
            </a:pPr>
            <a:r>
              <a:rPr lang="en-US" sz="2400" b="1">
                <a:latin typeface="Aptos" panose="020B0004020202020204" pitchFamily="34" charset="0"/>
                <a:cs typeface="Times New Roman" panose="02020603050405020304" pitchFamily="18" charset="0"/>
              </a:rPr>
              <a:t>Electromagnetic Fields (EMF) Data:</a:t>
            </a:r>
          </a:p>
          <a:p>
            <a:pPr lvl="0">
              <a:lnSpc>
                <a:spcPct val="90000"/>
              </a:lnSpc>
              <a:buNone/>
            </a:pPr>
            <a:r>
              <a:rPr lang="en-US" sz="2400" b="1">
                <a:latin typeface="Aptos" panose="020B0004020202020204" pitchFamily="34" charset="0"/>
                <a:cs typeface="Times New Roman" panose="02020603050405020304" pitchFamily="18" charset="0"/>
              </a:rPr>
              <a:t> </a:t>
            </a:r>
            <a:r>
              <a:rPr lang="en-US" sz="2400">
                <a:latin typeface="Aptos" panose="020B0004020202020204" pitchFamily="34" charset="0"/>
                <a:cs typeface="Times New Roman" panose="02020603050405020304" pitchFamily="18" charset="0"/>
              </a:rPr>
              <a:t>Captures variation in magnetic field intensity during vehicle movement. </a:t>
            </a:r>
          </a:p>
          <a:p>
            <a:pPr lvl="0">
              <a:lnSpc>
                <a:spcPct val="90000"/>
              </a:lnSpc>
              <a:buNone/>
            </a:pPr>
            <a:r>
              <a:rPr lang="en-US" sz="2400" b="1">
                <a:latin typeface="Aptos" panose="020B0004020202020204" pitchFamily="34" charset="0"/>
                <a:cs typeface="Times New Roman" panose="02020603050405020304" pitchFamily="18" charset="0"/>
              </a:rPr>
              <a:t>Types of EMF waves:</a:t>
            </a:r>
          </a:p>
          <a:p>
            <a:pPr>
              <a:lnSpc>
                <a:spcPct val="90000"/>
              </a:lnSpc>
              <a:buFont typeface="Arial" panose="020B0604020202020204" pitchFamily="34" charset="0"/>
              <a:buChar char="•"/>
            </a:pPr>
            <a:r>
              <a:rPr lang="en-US" sz="2400">
                <a:latin typeface="Aptos" panose="020B0004020202020204" pitchFamily="34" charset="0"/>
                <a:cs typeface="Times New Roman" panose="02020603050405020304" pitchFamily="18" charset="0"/>
              </a:rPr>
              <a:t>Absolute wave</a:t>
            </a:r>
          </a:p>
          <a:p>
            <a:pPr>
              <a:lnSpc>
                <a:spcPct val="90000"/>
              </a:lnSpc>
              <a:buFont typeface="Arial" panose="020B0604020202020204" pitchFamily="34" charset="0"/>
              <a:buChar char="•"/>
            </a:pPr>
            <a:r>
              <a:rPr lang="en-US" sz="2400">
                <a:latin typeface="Aptos" panose="020B0004020202020204" pitchFamily="34" charset="0"/>
                <a:cs typeface="Times New Roman" panose="02020603050405020304" pitchFamily="18" charset="0"/>
              </a:rPr>
              <a:t>Differential wave</a:t>
            </a:r>
          </a:p>
          <a:p>
            <a:pPr>
              <a:lnSpc>
                <a:spcPct val="90000"/>
              </a:lnSpc>
              <a:buFont typeface="Arial" panose="020B0604020202020204" pitchFamily="34" charset="0"/>
              <a:buChar char="•"/>
            </a:pPr>
            <a:endParaRPr lang="en-US" sz="2400">
              <a:latin typeface="Aptos" panose="020B0004020202020204" pitchFamily="34" charset="0"/>
              <a:cs typeface="Times New Roman" panose="02020603050405020304" pitchFamily="18" charset="0"/>
            </a:endParaRPr>
          </a:p>
          <a:p>
            <a:pPr marL="0" indent="0">
              <a:lnSpc>
                <a:spcPct val="90000"/>
              </a:lnSpc>
              <a:buNone/>
            </a:pPr>
            <a:r>
              <a:rPr lang="en-US" sz="2400" b="1">
                <a:latin typeface="Aptos" panose="020B0004020202020204" pitchFamily="34" charset="0"/>
                <a:cs typeface="Times New Roman" panose="02020603050405020304" pitchFamily="18" charset="0"/>
              </a:rPr>
              <a:t>Seismic Data: </a:t>
            </a:r>
          </a:p>
          <a:p>
            <a:pPr marL="0" indent="0">
              <a:lnSpc>
                <a:spcPct val="90000"/>
              </a:lnSpc>
              <a:buNone/>
            </a:pPr>
            <a:r>
              <a:rPr lang="en-US" sz="2400">
                <a:latin typeface="Aptos" panose="020B0004020202020204" pitchFamily="34" charset="0"/>
                <a:cs typeface="Times New Roman" panose="02020603050405020304" pitchFamily="18" charset="0"/>
              </a:rPr>
              <a:t>Measures vibration amplitude and frequency patterns. Captures ground vibrations produced by moving vehicle.</a:t>
            </a:r>
          </a:p>
          <a:p>
            <a:pPr>
              <a:lnSpc>
                <a:spcPct val="90000"/>
              </a:lnSpc>
            </a:pPr>
            <a:endParaRPr lang="en-US"/>
          </a:p>
        </p:txBody>
      </p:sp>
    </p:spTree>
    <p:extLst>
      <p:ext uri="{BB962C8B-B14F-4D97-AF65-F5344CB8AC3E}">
        <p14:creationId xmlns:p14="http://schemas.microsoft.com/office/powerpoint/2010/main" val="39697797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417A8F89-D216-2CF8-70F0-364F2710C4D9}"/>
            </a:ext>
          </a:extLst>
        </p:cNvPr>
        <p:cNvGrpSpPr/>
        <p:nvPr/>
      </p:nvGrpSpPr>
      <p:grpSpPr>
        <a:xfrm>
          <a:off x="0" y="0"/>
          <a:ext cx="0" cy="0"/>
          <a:chOff x="0" y="0"/>
          <a:chExt cx="0" cy="0"/>
        </a:xfrm>
      </p:grpSpPr>
      <p:pic>
        <p:nvPicPr>
          <p:cNvPr id="3074" name="Picture 2" descr="India's Future Main Battle Tank Will Come Without Life-Saving ...">
            <a:extLst>
              <a:ext uri="{FF2B5EF4-FFF2-40B4-BE49-F238E27FC236}">
                <a16:creationId xmlns:a16="http://schemas.microsoft.com/office/drawing/2014/main" id="{B21A829B-E360-73F8-1FAB-304CEF7B686F}"/>
              </a:ext>
            </a:extLst>
          </p:cNvPr>
          <p:cNvPicPr>
            <a:picLocks noChangeAspect="1" noChangeArrowheads="1"/>
          </p:cNvPicPr>
          <p:nvPr/>
        </p:nvPicPr>
        <p:blipFill>
          <a:blip r:embed="rId3">
            <a:duotone>
              <a:prstClr val="black"/>
              <a:schemeClr val="accent5">
                <a:tint val="45000"/>
                <a:satMod val="400000"/>
              </a:schemeClr>
            </a:duotone>
            <a:alphaModFix amt="15000"/>
            <a:extLst>
              <a:ext uri="{28A0092B-C50C-407E-A947-70E740481C1C}">
                <a14:useLocalDpi xmlns:a14="http://schemas.microsoft.com/office/drawing/2010/main" val="0"/>
              </a:ext>
            </a:extLst>
          </a:blip>
          <a:srcRect t="8537"/>
          <a:stretch>
            <a:fillRect/>
          </a:stretch>
        </p:blipFill>
        <p:spPr bwMode="auto">
          <a:xfrm>
            <a:off x="20" y="-29487"/>
            <a:ext cx="12191980" cy="727164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D24ED97-0773-06D7-936E-BD019BBE5AE0}"/>
              </a:ext>
            </a:extLst>
          </p:cNvPr>
          <p:cNvSpPr>
            <a:spLocks noGrp="1"/>
          </p:cNvSpPr>
          <p:nvPr>
            <p:ph type="title"/>
          </p:nvPr>
        </p:nvSpPr>
        <p:spPr>
          <a:xfrm>
            <a:off x="646111" y="452718"/>
            <a:ext cx="9404723" cy="1400530"/>
          </a:xfrm>
        </p:spPr>
        <p:txBody>
          <a:bodyPr>
            <a:normAutofit/>
          </a:bodyPr>
          <a:lstStyle/>
          <a:p>
            <a:r>
              <a:rPr lang="en-US">
                <a:latin typeface="Times New Roman" panose="02020603050405020304" pitchFamily="18" charset="0"/>
                <a:cs typeface="Times New Roman" panose="02020603050405020304" pitchFamily="18" charset="0"/>
              </a:rPr>
              <a:t>Data Preprocessing</a:t>
            </a:r>
          </a:p>
        </p:txBody>
      </p:sp>
      <p:sp>
        <p:nvSpPr>
          <p:cNvPr id="3084" name="Rectangle 3083">
            <a:extLst>
              <a:ext uri="{FF2B5EF4-FFF2-40B4-BE49-F238E27FC236}">
                <a16:creationId xmlns:a16="http://schemas.microsoft.com/office/drawing/2014/main" id="{4DD42123-B454-8BFF-33EB-13AC323927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4" name="Content Placeholder 3">
            <a:extLst>
              <a:ext uri="{FF2B5EF4-FFF2-40B4-BE49-F238E27FC236}">
                <a16:creationId xmlns:a16="http://schemas.microsoft.com/office/drawing/2014/main" id="{416F5622-EC10-4A64-D32C-D71A5F48D767}"/>
              </a:ext>
            </a:extLst>
          </p:cNvPr>
          <p:cNvGraphicFramePr>
            <a:graphicFrameLocks noGrp="1"/>
          </p:cNvGraphicFramePr>
          <p:nvPr>
            <p:ph idx="1"/>
            <p:extLst>
              <p:ext uri="{D42A27DB-BD31-4B8C-83A1-F6EECF244321}">
                <p14:modId xmlns:p14="http://schemas.microsoft.com/office/powerpoint/2010/main" val="1644490038"/>
              </p:ext>
            </p:extLst>
          </p:nvPr>
        </p:nvGraphicFramePr>
        <p:xfrm>
          <a:off x="1103312" y="2052918"/>
          <a:ext cx="8946541" cy="41954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66326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80C18-86F4-3002-44F0-2AEAA2DAD47B}"/>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Data</a:t>
            </a:r>
            <a:r>
              <a:rPr lang="en-US">
                <a:latin typeface="Aptos" panose="020B0004020202020204" pitchFamily="34" charset="0"/>
              </a:rPr>
              <a:t> </a:t>
            </a:r>
            <a:r>
              <a:rPr lang="en-US">
                <a:latin typeface="Times New Roman" panose="02020603050405020304" pitchFamily="18" charset="0"/>
                <a:cs typeface="Times New Roman" panose="02020603050405020304" pitchFamily="18" charset="0"/>
              </a:rPr>
              <a:t>Visualization</a:t>
            </a:r>
          </a:p>
        </p:txBody>
      </p:sp>
      <p:sp>
        <p:nvSpPr>
          <p:cNvPr id="3" name="Text Placeholder 2">
            <a:extLst>
              <a:ext uri="{FF2B5EF4-FFF2-40B4-BE49-F238E27FC236}">
                <a16:creationId xmlns:a16="http://schemas.microsoft.com/office/drawing/2014/main" id="{FED7C722-7F6A-928B-291A-3975D607FF42}"/>
              </a:ext>
            </a:extLst>
          </p:cNvPr>
          <p:cNvSpPr>
            <a:spLocks noGrp="1"/>
          </p:cNvSpPr>
          <p:nvPr>
            <p:ph type="body" idx="1"/>
          </p:nvPr>
        </p:nvSpPr>
        <p:spPr/>
        <p:txBody>
          <a:bodyPr/>
          <a:lstStyle/>
          <a:p>
            <a:r>
              <a:rPr lang="en-US">
                <a:latin typeface="Aptos" panose="020B0004020202020204" pitchFamily="34" charset="0"/>
              </a:rPr>
              <a:t>Plot</a:t>
            </a:r>
          </a:p>
        </p:txBody>
      </p:sp>
      <p:sp>
        <p:nvSpPr>
          <p:cNvPr id="4" name="Text Placeholder 3">
            <a:extLst>
              <a:ext uri="{FF2B5EF4-FFF2-40B4-BE49-F238E27FC236}">
                <a16:creationId xmlns:a16="http://schemas.microsoft.com/office/drawing/2014/main" id="{146E4DCE-4B39-7A56-F90E-AC7D49A894A9}"/>
              </a:ext>
            </a:extLst>
          </p:cNvPr>
          <p:cNvSpPr>
            <a:spLocks noGrp="1"/>
          </p:cNvSpPr>
          <p:nvPr>
            <p:ph type="body" sz="half" idx="15"/>
          </p:nvPr>
        </p:nvSpPr>
        <p:spPr/>
        <p:txBody>
          <a:bodyPr>
            <a:normAutofit/>
          </a:bodyPr>
          <a:lstStyle/>
          <a:p>
            <a:pPr algn="just"/>
            <a:r>
              <a:rPr lang="en-US" sz="2000">
                <a:latin typeface="Aptos" panose="020B0004020202020204" pitchFamily="34" charset="0"/>
                <a:cs typeface="Times New Roman" panose="02020603050405020304" pitchFamily="18" charset="0"/>
              </a:rPr>
              <a:t>This Graph plot compares the seismic energy generated by tank and truck vehicles. We observe that tanks generally produce higher vibration energy, which helps the model distinguish between tank and non-tank vehicles.</a:t>
            </a:r>
          </a:p>
        </p:txBody>
      </p:sp>
      <p:sp>
        <p:nvSpPr>
          <p:cNvPr id="5" name="Text Placeholder 4">
            <a:extLst>
              <a:ext uri="{FF2B5EF4-FFF2-40B4-BE49-F238E27FC236}">
                <a16:creationId xmlns:a16="http://schemas.microsoft.com/office/drawing/2014/main" id="{D0A709B5-85EC-6D61-AB7C-4986DB230ABC}"/>
              </a:ext>
            </a:extLst>
          </p:cNvPr>
          <p:cNvSpPr>
            <a:spLocks noGrp="1"/>
          </p:cNvSpPr>
          <p:nvPr>
            <p:ph type="body" sz="quarter" idx="3"/>
          </p:nvPr>
        </p:nvSpPr>
        <p:spPr/>
        <p:txBody>
          <a:bodyPr/>
          <a:lstStyle/>
          <a:p>
            <a:r>
              <a:rPr lang="en-US">
                <a:latin typeface="Aptos" panose="020B0004020202020204" pitchFamily="34" charset="0"/>
              </a:rPr>
              <a:t>Seismic energy</a:t>
            </a:r>
          </a:p>
        </p:txBody>
      </p:sp>
      <p:sp>
        <p:nvSpPr>
          <p:cNvPr id="6" name="Text Placeholder 5">
            <a:extLst>
              <a:ext uri="{FF2B5EF4-FFF2-40B4-BE49-F238E27FC236}">
                <a16:creationId xmlns:a16="http://schemas.microsoft.com/office/drawing/2014/main" id="{E47CB700-11CD-56EF-D1D6-1EC983BD23C4}"/>
              </a:ext>
            </a:extLst>
          </p:cNvPr>
          <p:cNvSpPr>
            <a:spLocks noGrp="1"/>
          </p:cNvSpPr>
          <p:nvPr>
            <p:ph type="body" sz="half" idx="16"/>
          </p:nvPr>
        </p:nvSpPr>
        <p:spPr/>
        <p:txBody>
          <a:bodyPr>
            <a:normAutofit/>
          </a:bodyPr>
          <a:lstStyle/>
          <a:p>
            <a:r>
              <a:rPr lang="en-US" sz="2000">
                <a:latin typeface="Aptos" panose="020B0004020202020204" pitchFamily="34" charset="0"/>
                <a:cs typeface="Times New Roman" panose="02020603050405020304" pitchFamily="18" charset="0"/>
              </a:rPr>
              <a:t>From the visualization, </a:t>
            </a:r>
            <a:r>
              <a:rPr lang="en-US" sz="2000" b="1">
                <a:latin typeface="Aptos" panose="020B0004020202020204" pitchFamily="34" charset="0"/>
                <a:cs typeface="Times New Roman" panose="02020603050405020304" pitchFamily="18" charset="0"/>
              </a:rPr>
              <a:t>tanks generally produce higher seismic energy</a:t>
            </a:r>
            <a:r>
              <a:rPr lang="en-US" sz="2000">
                <a:latin typeface="Aptos" panose="020B0004020202020204" pitchFamily="34" charset="0"/>
                <a:cs typeface="Times New Roman" panose="02020603050405020304" pitchFamily="18" charset="0"/>
              </a:rPr>
              <a:t>, indicating stronger ground vibrations compared to trucks.</a:t>
            </a:r>
          </a:p>
        </p:txBody>
      </p:sp>
      <p:pic>
        <p:nvPicPr>
          <p:cNvPr id="14" name="Picture 13">
            <a:extLst>
              <a:ext uri="{FF2B5EF4-FFF2-40B4-BE49-F238E27FC236}">
                <a16:creationId xmlns:a16="http://schemas.microsoft.com/office/drawing/2014/main" id="{59DDB05F-B6C2-A4E4-09D4-05D2B7A8BAA6}"/>
              </a:ext>
            </a:extLst>
          </p:cNvPr>
          <p:cNvPicPr>
            <a:picLocks noChangeAspect="1"/>
          </p:cNvPicPr>
          <p:nvPr/>
        </p:nvPicPr>
        <p:blipFill>
          <a:blip r:embed="rId2"/>
          <a:stretch>
            <a:fillRect/>
          </a:stretch>
        </p:blipFill>
        <p:spPr>
          <a:xfrm>
            <a:off x="7027845" y="2269331"/>
            <a:ext cx="4511692" cy="3505487"/>
          </a:xfrm>
          <a:prstGeom prst="rect">
            <a:avLst/>
          </a:prstGeom>
        </p:spPr>
      </p:pic>
    </p:spTree>
    <p:extLst>
      <p:ext uri="{BB962C8B-B14F-4D97-AF65-F5344CB8AC3E}">
        <p14:creationId xmlns:p14="http://schemas.microsoft.com/office/powerpoint/2010/main" val="2535013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4E916-6452-8232-A02A-3977C80C49D4}"/>
              </a:ext>
            </a:extLst>
          </p:cNvPr>
          <p:cNvSpPr>
            <a:spLocks noGrp="1"/>
          </p:cNvSpPr>
          <p:nvPr>
            <p:ph type="title"/>
          </p:nvPr>
        </p:nvSpPr>
        <p:spPr/>
        <p:txBody>
          <a:bodyPr/>
          <a:lstStyle/>
          <a:p>
            <a:r>
              <a:rPr lang="en-US"/>
              <a:t>Data Visuals</a:t>
            </a:r>
          </a:p>
        </p:txBody>
      </p:sp>
      <p:pic>
        <p:nvPicPr>
          <p:cNvPr id="6" name="Content Placeholder 5">
            <a:extLst>
              <a:ext uri="{FF2B5EF4-FFF2-40B4-BE49-F238E27FC236}">
                <a16:creationId xmlns:a16="http://schemas.microsoft.com/office/drawing/2014/main" id="{5C1D53A9-B745-A8F7-DAE1-34B92ABC8D4C}"/>
              </a:ext>
            </a:extLst>
          </p:cNvPr>
          <p:cNvPicPr>
            <a:picLocks noGrp="1" noChangeAspect="1"/>
          </p:cNvPicPr>
          <p:nvPr>
            <p:ph sz="half" idx="1"/>
          </p:nvPr>
        </p:nvPicPr>
        <p:blipFill>
          <a:blip r:embed="rId2"/>
          <a:stretch>
            <a:fillRect/>
          </a:stretch>
        </p:blipFill>
        <p:spPr>
          <a:xfrm>
            <a:off x="1103313" y="2397799"/>
            <a:ext cx="4395787" cy="3521314"/>
          </a:xfrm>
          <a:prstGeom prst="rect">
            <a:avLst/>
          </a:prstGeom>
        </p:spPr>
      </p:pic>
      <p:sp>
        <p:nvSpPr>
          <p:cNvPr id="4" name="Content Placeholder 3">
            <a:extLst>
              <a:ext uri="{FF2B5EF4-FFF2-40B4-BE49-F238E27FC236}">
                <a16:creationId xmlns:a16="http://schemas.microsoft.com/office/drawing/2014/main" id="{A76977BC-F7AC-40BC-62D7-9C2BD610026A}"/>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200091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7" name="Rectangle 16">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1" name="Freeform: Shape 20">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333E5AA6-4580-7DDE-6886-92F619272E59}"/>
              </a:ext>
            </a:extLst>
          </p:cNvPr>
          <p:cNvSpPr>
            <a:spLocks noGrp="1"/>
          </p:cNvSpPr>
          <p:nvPr>
            <p:ph type="title"/>
          </p:nvPr>
        </p:nvSpPr>
        <p:spPr>
          <a:xfrm>
            <a:off x="1103312" y="452718"/>
            <a:ext cx="8947522" cy="1400530"/>
          </a:xfrm>
        </p:spPr>
        <p:txBody>
          <a:bodyPr anchor="ctr">
            <a:normAutofit/>
          </a:bodyPr>
          <a:lstStyle/>
          <a:p>
            <a:r>
              <a:rPr lang="en-US">
                <a:solidFill>
                  <a:srgbClr val="FFFFFF"/>
                </a:solidFill>
                <a:latin typeface="Times New Roman" panose="02020603050405020304" pitchFamily="18" charset="0"/>
                <a:cs typeface="Times New Roman" panose="02020603050405020304" pitchFamily="18" charset="0"/>
              </a:rPr>
              <a:t>Model Description</a:t>
            </a:r>
          </a:p>
        </p:txBody>
      </p:sp>
      <p:sp>
        <p:nvSpPr>
          <p:cNvPr id="10" name="Content Placeholder 9">
            <a:extLst>
              <a:ext uri="{FF2B5EF4-FFF2-40B4-BE49-F238E27FC236}">
                <a16:creationId xmlns:a16="http://schemas.microsoft.com/office/drawing/2014/main" id="{BF27F0E1-18A6-A93D-E640-1E2F5248BA65}"/>
              </a:ext>
            </a:extLst>
          </p:cNvPr>
          <p:cNvSpPr>
            <a:spLocks noGrp="1"/>
          </p:cNvSpPr>
          <p:nvPr>
            <p:ph idx="1"/>
          </p:nvPr>
        </p:nvSpPr>
        <p:spPr>
          <a:xfrm>
            <a:off x="319314" y="2409372"/>
            <a:ext cx="11495315" cy="4194628"/>
          </a:xfrm>
        </p:spPr>
        <p:txBody>
          <a:bodyPr>
            <a:normAutofit fontScale="92500" lnSpcReduction="10000"/>
          </a:bodyPr>
          <a:lstStyle/>
          <a:p>
            <a:r>
              <a:rPr lang="en-US" b="1">
                <a:latin typeface="Aptos" panose="020B0004020202020204" pitchFamily="34" charset="0"/>
              </a:rPr>
              <a:t>Model Used</a:t>
            </a:r>
            <a:endParaRPr lang="en-US">
              <a:latin typeface="Aptos" panose="020B0004020202020204" pitchFamily="34" charset="0"/>
            </a:endParaRPr>
          </a:p>
          <a:p>
            <a:r>
              <a:rPr lang="en-US">
                <a:latin typeface="Aptos" panose="020B0004020202020204" pitchFamily="34" charset="0"/>
              </a:rPr>
              <a:t>A </a:t>
            </a:r>
            <a:r>
              <a:rPr lang="en-US" b="1">
                <a:latin typeface="Aptos" panose="020B0004020202020204" pitchFamily="34" charset="0"/>
              </a:rPr>
              <a:t>Random Forest Classifier</a:t>
            </a:r>
            <a:r>
              <a:rPr lang="en-US">
                <a:latin typeface="Aptos" panose="020B0004020202020204" pitchFamily="34" charset="0"/>
              </a:rPr>
              <a:t> was used for vehicle classification.  Random Forest is an ensemble learning algorithm that combines multiple decision trees to improve prediction accuracy and reduce overfitting.</a:t>
            </a:r>
          </a:p>
          <a:p>
            <a:endParaRPr lang="en-US">
              <a:latin typeface="Aptos" panose="020B0004020202020204" pitchFamily="34" charset="0"/>
            </a:endParaRPr>
          </a:p>
          <a:p>
            <a:r>
              <a:rPr lang="en-US" b="1">
                <a:latin typeface="Aptos" panose="020B0004020202020204" pitchFamily="34" charset="0"/>
              </a:rPr>
              <a:t>Features Used</a:t>
            </a:r>
            <a:endParaRPr lang="en-US">
              <a:latin typeface="Aptos" panose="020B0004020202020204" pitchFamily="34" charset="0"/>
            </a:endParaRPr>
          </a:p>
          <a:p>
            <a:r>
              <a:rPr lang="en-US">
                <a:latin typeface="Aptos" panose="020B0004020202020204" pitchFamily="34" charset="0"/>
              </a:rPr>
              <a:t>Statistical features extracted from </a:t>
            </a:r>
            <a:r>
              <a:rPr lang="en-US" b="1">
                <a:latin typeface="Aptos" panose="020B0004020202020204" pitchFamily="34" charset="0"/>
              </a:rPr>
              <a:t>Absolute, Differential, and Seismic signals</a:t>
            </a:r>
            <a:r>
              <a:rPr lang="en-US">
                <a:latin typeface="Aptos" panose="020B0004020202020204" pitchFamily="34" charset="0"/>
              </a:rPr>
              <a:t>. Features include </a:t>
            </a:r>
            <a:r>
              <a:rPr lang="en-US" b="1">
                <a:latin typeface="Aptos" panose="020B0004020202020204" pitchFamily="34" charset="0"/>
              </a:rPr>
              <a:t>Mean, Standard Deviation, RMS, Energy, Peak-to-RMS ratio, and Kurtosis</a:t>
            </a:r>
            <a:r>
              <a:rPr lang="en-US">
                <a:latin typeface="Aptos" panose="020B0004020202020204" pitchFamily="34" charset="0"/>
              </a:rPr>
              <a:t>. </a:t>
            </a:r>
          </a:p>
          <a:p>
            <a:endParaRPr lang="en-US">
              <a:latin typeface="Aptos" panose="020B0004020202020204" pitchFamily="34" charset="0"/>
            </a:endParaRPr>
          </a:p>
          <a:p>
            <a:r>
              <a:rPr lang="en-US" b="1">
                <a:latin typeface="Aptos" panose="020B0004020202020204" pitchFamily="34" charset="0"/>
              </a:rPr>
              <a:t>Training and Testing Dataset</a:t>
            </a:r>
            <a:endParaRPr lang="en-US">
              <a:latin typeface="Aptos" panose="020B0004020202020204" pitchFamily="34" charset="0"/>
            </a:endParaRPr>
          </a:p>
          <a:p>
            <a:r>
              <a:rPr lang="en-US">
                <a:latin typeface="Aptos" panose="020B0004020202020204" pitchFamily="34" charset="0"/>
              </a:rPr>
              <a:t>The dataset was divided into </a:t>
            </a:r>
            <a:r>
              <a:rPr lang="en-US" b="1">
                <a:latin typeface="Aptos" panose="020B0004020202020204" pitchFamily="34" charset="0"/>
              </a:rPr>
              <a:t>training and testing sets</a:t>
            </a:r>
            <a:r>
              <a:rPr lang="en-US">
                <a:latin typeface="Aptos" panose="020B0004020202020204" pitchFamily="34" charset="0"/>
              </a:rPr>
              <a:t>.</a:t>
            </a:r>
          </a:p>
          <a:p>
            <a:r>
              <a:rPr lang="en-US" b="1">
                <a:latin typeface="Aptos" panose="020B0004020202020204" pitchFamily="34" charset="0"/>
              </a:rPr>
              <a:t>80% of the data</a:t>
            </a:r>
            <a:r>
              <a:rPr lang="en-US">
                <a:latin typeface="Aptos" panose="020B0004020202020204" pitchFamily="34" charset="0"/>
              </a:rPr>
              <a:t> was used for training the model.  </a:t>
            </a:r>
            <a:r>
              <a:rPr lang="en-US" b="1">
                <a:latin typeface="Aptos" panose="020B0004020202020204" pitchFamily="34" charset="0"/>
              </a:rPr>
              <a:t>20% of the data</a:t>
            </a:r>
            <a:r>
              <a:rPr lang="en-US">
                <a:latin typeface="Aptos" panose="020B0004020202020204" pitchFamily="34" charset="0"/>
              </a:rPr>
              <a:t> was used for testing and evaluation.</a:t>
            </a:r>
          </a:p>
        </p:txBody>
      </p:sp>
    </p:spTree>
    <p:extLst>
      <p:ext uri="{BB962C8B-B14F-4D97-AF65-F5344CB8AC3E}">
        <p14:creationId xmlns:p14="http://schemas.microsoft.com/office/powerpoint/2010/main" val="1066598782"/>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8"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3" name="Title 2">
            <a:extLst>
              <a:ext uri="{FF2B5EF4-FFF2-40B4-BE49-F238E27FC236}">
                <a16:creationId xmlns:a16="http://schemas.microsoft.com/office/drawing/2014/main" id="{CB04C01D-97FD-1335-FF97-C7C32510C86D}"/>
              </a:ext>
            </a:extLst>
          </p:cNvPr>
          <p:cNvSpPr>
            <a:spLocks noGrp="1"/>
          </p:cNvSpPr>
          <p:nvPr>
            <p:ph type="title"/>
          </p:nvPr>
        </p:nvSpPr>
        <p:spPr>
          <a:xfrm>
            <a:off x="806195" y="804672"/>
            <a:ext cx="3521359" cy="5248656"/>
          </a:xfrm>
        </p:spPr>
        <p:txBody>
          <a:bodyPr anchor="ctr">
            <a:normAutofit/>
          </a:bodyPr>
          <a:lstStyle/>
          <a:p>
            <a:pPr algn="ctr"/>
            <a:r>
              <a:rPr lang="en-US">
                <a:latin typeface="Times New Roman" panose="02020603050405020304" pitchFamily="18" charset="0"/>
                <a:cs typeface="Times New Roman" panose="02020603050405020304" pitchFamily="18" charset="0"/>
              </a:rPr>
              <a:t>Why Random Forest?</a:t>
            </a:r>
          </a:p>
        </p:txBody>
      </p:sp>
      <p:sp>
        <p:nvSpPr>
          <p:cNvPr id="5" name="Rectangle 1">
            <a:extLst>
              <a:ext uri="{FF2B5EF4-FFF2-40B4-BE49-F238E27FC236}">
                <a16:creationId xmlns:a16="http://schemas.microsoft.com/office/drawing/2014/main" id="{9A23E10B-0CDE-5F08-10B2-00EB0767D8D2}"/>
              </a:ext>
            </a:extLst>
          </p:cNvPr>
          <p:cNvSpPr>
            <a:spLocks noGrp="1" noChangeArrowheads="1"/>
          </p:cNvSpPr>
          <p:nvPr>
            <p:ph idx="1"/>
          </p:nvPr>
        </p:nvSpPr>
        <p:spPr bwMode="auto">
          <a:xfrm>
            <a:off x="4975861" y="804671"/>
            <a:ext cx="6399930" cy="524865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lvl="0" algn="just" defTabSz="914400" eaLnBrk="0" fontAlgn="base" hangingPunct="0">
              <a:spcBef>
                <a:spcPct val="0"/>
              </a:spcBef>
              <a:spcAft>
                <a:spcPts val="600"/>
              </a:spcAft>
              <a:buClrTx/>
              <a:buSzTx/>
              <a:buFont typeface="Arial" panose="020B0604020202020204" pitchFamily="34" charset="0"/>
              <a:buChar char="•"/>
            </a:pPr>
            <a:r>
              <a:rPr kumimoji="0" lang="en-US" altLang="en-US" b="1" i="0" u="none" strike="noStrike" cap="none" normalizeH="0" baseline="0">
                <a:ln>
                  <a:noFill/>
                </a:ln>
                <a:effectLst/>
                <a:latin typeface="Aptos" panose="020B0004020202020204" pitchFamily="34" charset="0"/>
              </a:rPr>
              <a:t>Handles complex patterns:</a:t>
            </a:r>
            <a:r>
              <a:rPr kumimoji="0" lang="en-US" altLang="en-US" b="0" i="0" u="none" strike="noStrike" cap="none" normalizeH="0" baseline="0">
                <a:ln>
                  <a:noFill/>
                </a:ln>
                <a:effectLst/>
                <a:latin typeface="Aptos" panose="020B0004020202020204" pitchFamily="34" charset="0"/>
              </a:rPr>
              <a:t> </a:t>
            </a:r>
            <a:r>
              <a:rPr lang="en-US">
                <a:latin typeface="Aptos" panose="020B0004020202020204" pitchFamily="34" charset="0"/>
              </a:rPr>
              <a:t>It uses multiple decision trees, allowing the model to capture complex patterns and relationships that simpler linear models may miss.</a:t>
            </a:r>
          </a:p>
          <a:p>
            <a:pPr lvl="0" algn="just" defTabSz="914400" eaLnBrk="0" fontAlgn="base" hangingPunct="0">
              <a:spcBef>
                <a:spcPct val="0"/>
              </a:spcBef>
              <a:spcAft>
                <a:spcPts val="600"/>
              </a:spcAft>
              <a:buClrTx/>
              <a:buSzTx/>
              <a:buFont typeface="Arial" panose="020B0604020202020204" pitchFamily="34" charset="0"/>
              <a:buChar char="•"/>
            </a:pPr>
            <a:r>
              <a:rPr kumimoji="0" lang="en-US" altLang="en-US" b="1" i="0" u="none" strike="noStrike" cap="none" normalizeH="0" baseline="0">
                <a:ln>
                  <a:noFill/>
                </a:ln>
                <a:effectLst/>
                <a:latin typeface="Aptos" panose="020B0004020202020204" pitchFamily="34" charset="0"/>
              </a:rPr>
              <a:t>Robust to noise:</a:t>
            </a:r>
            <a:r>
              <a:rPr kumimoji="0" lang="en-US" altLang="en-US" b="0" i="0" u="none" strike="noStrike" cap="none" normalizeH="0" baseline="0">
                <a:ln>
                  <a:noFill/>
                </a:ln>
                <a:effectLst/>
                <a:latin typeface="Aptos" panose="020B0004020202020204" pitchFamily="34" charset="0"/>
              </a:rPr>
              <a:t> Since it combines multiple decision trees, it reduces the impact of </a:t>
            </a:r>
            <a:r>
              <a:rPr kumimoji="0" lang="en-US" altLang="en-US" i="0" u="none" strike="noStrike" cap="none" normalizeH="0" baseline="0">
                <a:ln>
                  <a:noFill/>
                </a:ln>
                <a:effectLst/>
                <a:latin typeface="Aptos" panose="020B0004020202020204" pitchFamily="34" charset="0"/>
              </a:rPr>
              <a:t>noisy or irregular sensor signals</a:t>
            </a:r>
            <a:r>
              <a:rPr kumimoji="0" lang="en-US" altLang="en-US" b="0" i="0" u="none" strike="noStrike" cap="none" normalizeH="0" baseline="0">
                <a:ln>
                  <a:noFill/>
                </a:ln>
                <a:effectLst/>
                <a:latin typeface="Aptos" panose="020B0004020202020204" pitchFamily="34" charset="0"/>
              </a:rPr>
              <a:t>.</a:t>
            </a:r>
          </a:p>
          <a:p>
            <a:pPr marR="0" lvl="0" algn="just"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b="1" i="0" u="none" strike="noStrike" cap="none" normalizeH="0" baseline="0">
                <a:ln>
                  <a:noFill/>
                </a:ln>
                <a:effectLst/>
                <a:latin typeface="Aptos" panose="020B0004020202020204" pitchFamily="34" charset="0"/>
              </a:rPr>
              <a:t>Reduces overfitting:</a:t>
            </a:r>
            <a:r>
              <a:rPr kumimoji="0" lang="en-US" altLang="en-US" b="0" i="0" u="none" strike="noStrike" cap="none" normalizeH="0" baseline="0">
                <a:ln>
                  <a:noFill/>
                </a:ln>
                <a:effectLst/>
                <a:latin typeface="Aptos" panose="020B0004020202020204" pitchFamily="34" charset="0"/>
              </a:rPr>
              <a:t> The ensemble approach improves </a:t>
            </a:r>
            <a:r>
              <a:rPr kumimoji="0" lang="en-US" altLang="en-US" i="0" u="none" strike="noStrike" cap="none" normalizeH="0" baseline="0">
                <a:ln>
                  <a:noFill/>
                </a:ln>
                <a:effectLst/>
                <a:latin typeface="Aptos" panose="020B0004020202020204" pitchFamily="34" charset="0"/>
              </a:rPr>
              <a:t>generalization on unseen data</a:t>
            </a:r>
            <a:r>
              <a:rPr kumimoji="0" lang="en-US" altLang="en-US" b="0" i="0" u="none" strike="noStrike" cap="none" normalizeH="0" baseline="0">
                <a:ln>
                  <a:noFill/>
                </a:ln>
                <a:effectLst/>
                <a:latin typeface="Aptos" panose="020B0004020202020204" pitchFamily="34" charset="0"/>
              </a:rPr>
              <a:t>.</a:t>
            </a:r>
          </a:p>
          <a:p>
            <a:pPr marR="0" lvl="0" algn="just"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b="1" i="0" u="none" strike="noStrike" cap="none" normalizeH="0" baseline="0">
                <a:ln>
                  <a:noFill/>
                </a:ln>
                <a:effectLst/>
                <a:latin typeface="Aptos" panose="020B0004020202020204" pitchFamily="34" charset="0"/>
              </a:rPr>
              <a:t>Good classification accuracy:</a:t>
            </a:r>
            <a:r>
              <a:rPr kumimoji="0" lang="en-US" altLang="en-US" b="0" i="0" u="none" strike="noStrike" cap="none" normalizeH="0" baseline="0">
                <a:ln>
                  <a:noFill/>
                </a:ln>
                <a:effectLst/>
                <a:latin typeface="Aptos" panose="020B0004020202020204" pitchFamily="34" charset="0"/>
              </a:rPr>
              <a:t> Provides </a:t>
            </a:r>
            <a:r>
              <a:rPr kumimoji="0" lang="en-US" altLang="en-US" i="0" u="none" strike="noStrike" cap="none" normalizeH="0" baseline="0">
                <a:ln>
                  <a:noFill/>
                </a:ln>
                <a:effectLst/>
                <a:latin typeface="Aptos" panose="020B0004020202020204" pitchFamily="34" charset="0"/>
              </a:rPr>
              <a:t>reliable performance for binary classification problems </a:t>
            </a:r>
            <a:r>
              <a:rPr kumimoji="0" lang="en-US" altLang="en-US" b="0" i="0" u="none" strike="noStrike" cap="none" normalizeH="0" baseline="0">
                <a:ln>
                  <a:noFill/>
                </a:ln>
                <a:effectLst/>
                <a:latin typeface="Aptos" panose="020B0004020202020204" pitchFamily="34" charset="0"/>
              </a:rPr>
              <a:t>like Tank vs Non-Tank detection.</a:t>
            </a:r>
          </a:p>
        </p:txBody>
      </p:sp>
    </p:spTree>
    <p:extLst>
      <p:ext uri="{BB962C8B-B14F-4D97-AF65-F5344CB8AC3E}">
        <p14:creationId xmlns:p14="http://schemas.microsoft.com/office/powerpoint/2010/main" val="3653782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31FD0F-B295-D27F-1417-513FDCA0EA90}"/>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Model Performance</a:t>
            </a:r>
          </a:p>
        </p:txBody>
      </p:sp>
      <p:sp>
        <p:nvSpPr>
          <p:cNvPr id="8" name="Content Placeholder 7">
            <a:extLst>
              <a:ext uri="{FF2B5EF4-FFF2-40B4-BE49-F238E27FC236}">
                <a16:creationId xmlns:a16="http://schemas.microsoft.com/office/drawing/2014/main" id="{BFBE6915-A0E1-FCD2-DD67-84EB31EF5407}"/>
              </a:ext>
            </a:extLst>
          </p:cNvPr>
          <p:cNvSpPr>
            <a:spLocks noGrp="1"/>
          </p:cNvSpPr>
          <p:nvPr>
            <p:ph sz="half" idx="1"/>
          </p:nvPr>
        </p:nvSpPr>
        <p:spPr>
          <a:xfrm>
            <a:off x="662003" y="1727200"/>
            <a:ext cx="10084222" cy="4992914"/>
          </a:xfrm>
        </p:spPr>
        <p:txBody>
          <a:bodyPr>
            <a:normAutofit/>
          </a:bodyPr>
          <a:lstStyle/>
          <a:p>
            <a:pPr>
              <a:buFont typeface="Arial" panose="020B0604020202020204" pitchFamily="34" charset="0"/>
              <a:buChar char="•"/>
            </a:pPr>
            <a:r>
              <a:rPr lang="en-US" b="1">
                <a:latin typeface="Aptos" panose="020B0004020202020204" pitchFamily="34" charset="0"/>
              </a:rPr>
              <a:t>Accuracy</a:t>
            </a:r>
            <a:endParaRPr lang="en-US">
              <a:latin typeface="Aptos" panose="020B0004020202020204" pitchFamily="34" charset="0"/>
            </a:endParaRPr>
          </a:p>
          <a:p>
            <a:pPr marL="0" indent="0">
              <a:buNone/>
            </a:pPr>
            <a:r>
              <a:rPr lang="en-US">
                <a:latin typeface="Aptos" panose="020B0004020202020204" pitchFamily="34" charset="0"/>
              </a:rPr>
              <a:t>	The model achieved an </a:t>
            </a:r>
            <a:r>
              <a:rPr lang="en-US" b="1">
                <a:latin typeface="Aptos" panose="020B0004020202020204" pitchFamily="34" charset="0"/>
              </a:rPr>
              <a:t>overall accuracy of 87.27%</a:t>
            </a:r>
            <a:r>
              <a:rPr lang="en-US">
                <a:latin typeface="Aptos" panose="020B0004020202020204" pitchFamily="34" charset="0"/>
              </a:rPr>
              <a:t> on the test dataset. Which 	means it 	correctly classified </a:t>
            </a:r>
            <a:r>
              <a:rPr lang="en-US" b="1">
                <a:latin typeface="Aptos" panose="020B0004020202020204" pitchFamily="34" charset="0"/>
              </a:rPr>
              <a:t>87 out of every 100 vehicle signals</a:t>
            </a:r>
            <a:r>
              <a:rPr lang="en-US">
                <a:latin typeface="Aptos" panose="020B0004020202020204" pitchFamily="34" charset="0"/>
              </a:rPr>
              <a:t>.</a:t>
            </a:r>
          </a:p>
          <a:p>
            <a:pPr>
              <a:buFont typeface="Arial" panose="020B0604020202020204" pitchFamily="34" charset="0"/>
              <a:buChar char="•"/>
            </a:pPr>
            <a:r>
              <a:rPr lang="en-US" b="1">
                <a:latin typeface="Aptos" panose="020B0004020202020204" pitchFamily="34" charset="0"/>
              </a:rPr>
              <a:t>Confusion Matrix</a:t>
            </a:r>
          </a:p>
          <a:p>
            <a:pPr>
              <a:buFont typeface="Arial" panose="020B0604020202020204" pitchFamily="34" charset="0"/>
              <a:buChar char="•"/>
            </a:pPr>
            <a:endParaRPr lang="en-US" b="1">
              <a:latin typeface="Aptos" panose="020B0004020202020204" pitchFamily="34" charset="0"/>
            </a:endParaRPr>
          </a:p>
          <a:p>
            <a:pPr>
              <a:buFont typeface="Arial" panose="020B0604020202020204" pitchFamily="34" charset="0"/>
              <a:buChar char="•"/>
            </a:pPr>
            <a:endParaRPr lang="en-US" b="1">
              <a:latin typeface="Aptos" panose="020B0004020202020204" pitchFamily="34" charset="0"/>
            </a:endParaRPr>
          </a:p>
          <a:p>
            <a:pPr marL="0" indent="0">
              <a:buNone/>
            </a:pPr>
            <a:endParaRPr lang="en-US" b="1">
              <a:latin typeface="Aptos" panose="020B0004020202020204" pitchFamily="34" charset="0"/>
            </a:endParaRPr>
          </a:p>
          <a:p>
            <a:pPr>
              <a:buFont typeface="Arial" panose="020B0604020202020204" pitchFamily="34" charset="0"/>
              <a:buChar char="•"/>
            </a:pPr>
            <a:r>
              <a:rPr lang="en-US" b="1">
                <a:latin typeface="Aptos" panose="020B0004020202020204" pitchFamily="34" charset="0"/>
              </a:rPr>
              <a:t>Explanation:</a:t>
            </a:r>
            <a:endParaRPr lang="en-US">
              <a:latin typeface="Aptos" panose="020B0004020202020204" pitchFamily="34" charset="0"/>
            </a:endParaRPr>
          </a:p>
          <a:p>
            <a:pPr marL="0" indent="0">
              <a:buNone/>
            </a:pPr>
            <a:r>
              <a:rPr lang="en-US" b="1">
                <a:latin typeface="Aptos" panose="020B0004020202020204" pitchFamily="34" charset="0"/>
              </a:rPr>
              <a:t>	26 Non-Tank vehicles</a:t>
            </a:r>
            <a:r>
              <a:rPr lang="en-US">
                <a:latin typeface="Aptos" panose="020B0004020202020204" pitchFamily="34" charset="0"/>
              </a:rPr>
              <a:t> were correctly classified as Non-Tank.</a:t>
            </a:r>
          </a:p>
          <a:p>
            <a:pPr marL="0" indent="0">
              <a:buNone/>
            </a:pPr>
            <a:r>
              <a:rPr lang="en-US" b="1">
                <a:latin typeface="Aptos" panose="020B0004020202020204" pitchFamily="34" charset="0"/>
              </a:rPr>
              <a:t>	22 Tank vehicles</a:t>
            </a:r>
            <a:r>
              <a:rPr lang="en-US">
                <a:latin typeface="Aptos" panose="020B0004020202020204" pitchFamily="34" charset="0"/>
              </a:rPr>
              <a:t> were correctly classified as Tank.</a:t>
            </a:r>
          </a:p>
          <a:p>
            <a:pPr marL="0" indent="0">
              <a:buNone/>
            </a:pPr>
            <a:r>
              <a:rPr lang="en-US" b="1">
                <a:latin typeface="Aptos" panose="020B0004020202020204" pitchFamily="34" charset="0"/>
              </a:rPr>
              <a:t>	4 Non-Tank vehicles</a:t>
            </a:r>
            <a:r>
              <a:rPr lang="en-US">
                <a:latin typeface="Aptos" panose="020B0004020202020204" pitchFamily="34" charset="0"/>
              </a:rPr>
              <a:t> were incorrectly classified as Tank.</a:t>
            </a:r>
          </a:p>
          <a:p>
            <a:pPr marL="0" indent="0">
              <a:buNone/>
            </a:pPr>
            <a:r>
              <a:rPr lang="en-US" b="1">
                <a:latin typeface="Aptos" panose="020B0004020202020204" pitchFamily="34" charset="0"/>
              </a:rPr>
              <a:t>	3 Tank vehicles</a:t>
            </a:r>
            <a:r>
              <a:rPr lang="en-US">
                <a:latin typeface="Aptos" panose="020B0004020202020204" pitchFamily="34" charset="0"/>
              </a:rPr>
              <a:t> were incorrectly classified as Non-Tank.</a:t>
            </a:r>
          </a:p>
          <a:p>
            <a:pPr>
              <a:buFont typeface="Arial" panose="020B0604020202020204" pitchFamily="34" charset="0"/>
              <a:buChar char="•"/>
            </a:pPr>
            <a:endParaRPr lang="en-US" b="1"/>
          </a:p>
        </p:txBody>
      </p:sp>
      <p:graphicFrame>
        <p:nvGraphicFramePr>
          <p:cNvPr id="10" name="Table 9">
            <a:extLst>
              <a:ext uri="{FF2B5EF4-FFF2-40B4-BE49-F238E27FC236}">
                <a16:creationId xmlns:a16="http://schemas.microsoft.com/office/drawing/2014/main" id="{151CBD92-AB52-173C-F8A1-8977CE8E3E9A}"/>
              </a:ext>
            </a:extLst>
          </p:cNvPr>
          <p:cNvGraphicFramePr>
            <a:graphicFrameLocks noGrp="1"/>
          </p:cNvGraphicFramePr>
          <p:nvPr>
            <p:extLst>
              <p:ext uri="{D42A27DB-BD31-4B8C-83A1-F6EECF244321}">
                <p14:modId xmlns:p14="http://schemas.microsoft.com/office/powerpoint/2010/main" val="1921630162"/>
              </p:ext>
            </p:extLst>
          </p:nvPr>
        </p:nvGraphicFramePr>
        <p:xfrm>
          <a:off x="1139329" y="3174161"/>
          <a:ext cx="8331201" cy="1112520"/>
        </p:xfrm>
        <a:graphic>
          <a:graphicData uri="http://schemas.openxmlformats.org/drawingml/2006/table">
            <a:tbl>
              <a:tblPr firstRow="1" bandRow="1">
                <a:tableStyleId>{9D7B26C5-4107-4FEC-AEDC-1716B250A1EF}</a:tableStyleId>
              </a:tblPr>
              <a:tblGrid>
                <a:gridCol w="2777067">
                  <a:extLst>
                    <a:ext uri="{9D8B030D-6E8A-4147-A177-3AD203B41FA5}">
                      <a16:colId xmlns:a16="http://schemas.microsoft.com/office/drawing/2014/main" val="2027413196"/>
                    </a:ext>
                  </a:extLst>
                </a:gridCol>
                <a:gridCol w="2777067">
                  <a:extLst>
                    <a:ext uri="{9D8B030D-6E8A-4147-A177-3AD203B41FA5}">
                      <a16:colId xmlns:a16="http://schemas.microsoft.com/office/drawing/2014/main" val="2576475815"/>
                    </a:ext>
                  </a:extLst>
                </a:gridCol>
                <a:gridCol w="2777067">
                  <a:extLst>
                    <a:ext uri="{9D8B030D-6E8A-4147-A177-3AD203B41FA5}">
                      <a16:colId xmlns:a16="http://schemas.microsoft.com/office/drawing/2014/main" val="1166527225"/>
                    </a:ext>
                  </a:extLst>
                </a:gridCol>
              </a:tblGrid>
              <a:tr h="370840">
                <a:tc>
                  <a:txBody>
                    <a:bodyPr/>
                    <a:lstStyle/>
                    <a:p>
                      <a:pPr>
                        <a:buNone/>
                      </a:pPr>
                      <a:r>
                        <a:rPr lang="en-US">
                          <a:latin typeface="Aptos" panose="020B0004020202020204" pitchFamily="34"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Aptos" panose="020B0004020202020204" pitchFamily="34" charset="0"/>
                        </a:rPr>
                        <a:t>Predicted Non-Tank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Aptos" panose="020B0004020202020204" pitchFamily="34" charset="0"/>
                        </a:rPr>
                        <a:t>Predicted Tank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237347"/>
                  </a:ext>
                </a:extLst>
              </a:tr>
              <a:tr h="370840">
                <a:tc>
                  <a:txBody>
                    <a:bodyPr/>
                    <a:lstStyle/>
                    <a:p>
                      <a:r>
                        <a:rPr lang="en-US">
                          <a:latin typeface="Aptos" panose="020B0004020202020204" pitchFamily="34" charset="0"/>
                        </a:rPr>
                        <a:t>Non-Tank (class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Aptos" panose="020B0004020202020204" pitchFamily="34" charset="0"/>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Aptos" panose="020B0004020202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2065059"/>
                  </a:ext>
                </a:extLst>
              </a:tr>
              <a:tr h="370840">
                <a:tc>
                  <a:txBody>
                    <a:bodyPr/>
                    <a:lstStyle/>
                    <a:p>
                      <a:r>
                        <a:rPr lang="en-US">
                          <a:latin typeface="Aptos" panose="020B0004020202020204" pitchFamily="34" charset="0"/>
                        </a:rPr>
                        <a:t>Tank (class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Aptos" panose="020B0004020202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Aptos" panose="020B0004020202020204" pitchFamily="34"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635243"/>
                  </a:ext>
                </a:extLst>
              </a:tr>
            </a:tbl>
          </a:graphicData>
        </a:graphic>
      </p:graphicFrame>
    </p:spTree>
    <p:extLst>
      <p:ext uri="{BB962C8B-B14F-4D97-AF65-F5344CB8AC3E}">
        <p14:creationId xmlns:p14="http://schemas.microsoft.com/office/powerpoint/2010/main" val="1419028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629E33E-8799-C74E-7758-638420485BA5}"/>
              </a:ext>
            </a:extLst>
          </p:cNvPr>
          <p:cNvSpPr>
            <a:spLocks noGrp="1"/>
          </p:cNvSpPr>
          <p:nvPr>
            <p:ph type="title"/>
          </p:nvPr>
        </p:nvSpPr>
        <p:spPr>
          <a:xfrm>
            <a:off x="648930" y="629267"/>
            <a:ext cx="9252154" cy="1016654"/>
          </a:xfrm>
        </p:spPr>
        <p:txBody>
          <a:bodyPr vert="horz" lIns="91440" tIns="45720" rIns="91440" bIns="45720" rtlCol="0" anchor="t">
            <a:normAutofit/>
          </a:bodyPr>
          <a:lstStyle/>
          <a:p>
            <a:pPr>
              <a:lnSpc>
                <a:spcPct val="90000"/>
              </a:lnSpc>
            </a:pPr>
            <a:r>
              <a:rPr lang="en-US" sz="3300" b="0" i="0" kern="1200">
                <a:solidFill>
                  <a:srgbClr val="EBEBEB"/>
                </a:solidFill>
                <a:latin typeface="Times New Roman" panose="02020603050405020304" pitchFamily="18" charset="0"/>
                <a:cs typeface="Times New Roman" panose="02020603050405020304" pitchFamily="18" charset="0"/>
              </a:rPr>
              <a:t>Model Performance</a:t>
            </a:r>
            <a:br>
              <a:rPr lang="en-US" sz="3300" b="0" i="0" kern="1200">
                <a:solidFill>
                  <a:srgbClr val="EBEBEB"/>
                </a:solidFill>
                <a:latin typeface="Times New Roman" panose="02020603050405020304" pitchFamily="18" charset="0"/>
                <a:cs typeface="Times New Roman" panose="02020603050405020304" pitchFamily="18" charset="0"/>
              </a:rPr>
            </a:br>
            <a:r>
              <a:rPr lang="en-US" sz="3300" b="0" i="0" kern="1200">
                <a:solidFill>
                  <a:srgbClr val="EBEBEB"/>
                </a:solidFill>
                <a:latin typeface="Times New Roman" panose="02020603050405020304" pitchFamily="18" charset="0"/>
                <a:cs typeface="Times New Roman" panose="02020603050405020304" pitchFamily="18" charset="0"/>
              </a:rPr>
              <a:t>precision, recall, and F1-score</a:t>
            </a:r>
            <a:r>
              <a:rPr lang="en-US" sz="3300" b="0" i="0" kern="1200">
                <a:solidFill>
                  <a:srgbClr val="EBEBEB"/>
                </a:solidFill>
                <a:latin typeface="+mj-lt"/>
                <a:ea typeface="+mj-ea"/>
                <a:cs typeface="+mj-cs"/>
              </a:rPr>
              <a:t>.</a:t>
            </a:r>
          </a:p>
        </p:txBody>
      </p:sp>
      <p:sp useBgFill="1">
        <p:nvSpPr>
          <p:cNvPr id="30" name="Freeform: Shape 29">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3" name="Content Placeholder 2">
            <a:extLst>
              <a:ext uri="{FF2B5EF4-FFF2-40B4-BE49-F238E27FC236}">
                <a16:creationId xmlns:a16="http://schemas.microsoft.com/office/drawing/2014/main" id="{7A663CD9-8CEB-E79C-848A-9B4A695696A8}"/>
              </a:ext>
            </a:extLst>
          </p:cNvPr>
          <p:cNvSpPr>
            <a:spLocks noGrp="1"/>
          </p:cNvSpPr>
          <p:nvPr>
            <p:ph sz="half" idx="1"/>
          </p:nvPr>
        </p:nvSpPr>
        <p:spPr>
          <a:xfrm>
            <a:off x="191258" y="2138516"/>
            <a:ext cx="11548458" cy="4454013"/>
          </a:xfrm>
        </p:spPr>
        <p:txBody>
          <a:bodyPr vert="horz" lIns="91440" tIns="45720" rIns="91440" bIns="45720" rtlCol="0">
            <a:noAutofit/>
          </a:bodyPr>
          <a:lstStyle/>
          <a:p>
            <a:pPr marL="0" indent="0" algn="just">
              <a:lnSpc>
                <a:spcPct val="90000"/>
              </a:lnSpc>
              <a:buNone/>
            </a:pPr>
            <a:r>
              <a:rPr lang="en-US" sz="2200" b="1">
                <a:latin typeface="Aptos" panose="020B0004020202020204" pitchFamily="34" charset="0"/>
              </a:rPr>
              <a:t>Precision</a:t>
            </a:r>
          </a:p>
          <a:p>
            <a:pPr algn="just">
              <a:lnSpc>
                <a:spcPct val="90000"/>
              </a:lnSpc>
              <a:buFont typeface="Arial" panose="020B0604020202020204" pitchFamily="34" charset="0"/>
              <a:buChar char="•"/>
            </a:pPr>
            <a:r>
              <a:rPr lang="en-US" sz="2200">
                <a:latin typeface="Aptos" panose="020B0004020202020204" pitchFamily="34" charset="0"/>
              </a:rPr>
              <a:t>Precision measures how many predicted positive cases are actually correct.</a:t>
            </a:r>
          </a:p>
          <a:p>
            <a:pPr algn="just">
              <a:lnSpc>
                <a:spcPct val="90000"/>
              </a:lnSpc>
              <a:buFont typeface="Arial" panose="020B0604020202020204" pitchFamily="34" charset="0"/>
              <a:buChar char="•"/>
            </a:pPr>
            <a:r>
              <a:rPr lang="en-US" sz="2200">
                <a:latin typeface="Aptos" panose="020B0004020202020204" pitchFamily="34" charset="0"/>
              </a:rPr>
              <a:t>High precision means fewer false alarms.</a:t>
            </a:r>
          </a:p>
          <a:p>
            <a:pPr marL="0" indent="0" algn="just">
              <a:lnSpc>
                <a:spcPct val="90000"/>
              </a:lnSpc>
              <a:buNone/>
            </a:pPr>
            <a:r>
              <a:rPr lang="en-US" sz="2200" b="1">
                <a:latin typeface="Aptos" panose="020B0004020202020204" pitchFamily="34" charset="0"/>
              </a:rPr>
              <a:t>Recall</a:t>
            </a:r>
          </a:p>
          <a:p>
            <a:pPr algn="just">
              <a:lnSpc>
                <a:spcPct val="90000"/>
              </a:lnSpc>
            </a:pPr>
            <a:r>
              <a:rPr lang="en-US" sz="2200">
                <a:latin typeface="Aptos" panose="020B0004020202020204" pitchFamily="34" charset="0"/>
              </a:rPr>
              <a:t>Recall measures how many actual positive cases</a:t>
            </a:r>
          </a:p>
          <a:p>
            <a:pPr algn="just">
              <a:lnSpc>
                <a:spcPct val="90000"/>
              </a:lnSpc>
            </a:pPr>
            <a:r>
              <a:rPr lang="en-US" sz="2200">
                <a:latin typeface="Aptos" panose="020B0004020202020204" pitchFamily="34" charset="0"/>
              </a:rPr>
              <a:t>the model successfully detected.</a:t>
            </a:r>
          </a:p>
          <a:p>
            <a:pPr algn="just">
              <a:lnSpc>
                <a:spcPct val="90000"/>
              </a:lnSpc>
            </a:pPr>
            <a:r>
              <a:rPr lang="en-US" sz="2200">
                <a:latin typeface="Aptos" panose="020B0004020202020204" pitchFamily="34" charset="0"/>
              </a:rPr>
              <a:t>High recall means fewer missed detections.</a:t>
            </a:r>
          </a:p>
          <a:p>
            <a:pPr marL="0" indent="0" algn="just">
              <a:lnSpc>
                <a:spcPct val="90000"/>
              </a:lnSpc>
              <a:buNone/>
            </a:pPr>
            <a:r>
              <a:rPr lang="en-US" sz="2200" b="1">
                <a:latin typeface="Aptos" panose="020B0004020202020204" pitchFamily="34" charset="0"/>
              </a:rPr>
              <a:t>F1-Score</a:t>
            </a:r>
          </a:p>
          <a:p>
            <a:pPr algn="just">
              <a:lnSpc>
                <a:spcPct val="90000"/>
              </a:lnSpc>
            </a:pPr>
            <a:r>
              <a:rPr lang="en-US" sz="2200">
                <a:latin typeface="Aptos" panose="020B0004020202020204" pitchFamily="34" charset="0"/>
              </a:rPr>
              <a:t>F1-score is the balance between precision and recall.</a:t>
            </a:r>
          </a:p>
          <a:p>
            <a:pPr algn="just">
              <a:lnSpc>
                <a:spcPct val="90000"/>
              </a:lnSpc>
            </a:pPr>
            <a:r>
              <a:rPr lang="en-US" sz="2200">
                <a:latin typeface="Aptos" panose="020B0004020202020204" pitchFamily="34" charset="0"/>
              </a:rPr>
              <a:t>It gives a single score that considers both false positives and false negatives.</a:t>
            </a:r>
          </a:p>
          <a:p>
            <a:pPr algn="just">
              <a:lnSpc>
                <a:spcPct val="90000"/>
              </a:lnSpc>
            </a:pPr>
            <a:r>
              <a:rPr lang="en-US" sz="2200">
                <a:latin typeface="Aptos" panose="020B0004020202020204" pitchFamily="34" charset="0"/>
              </a:rPr>
              <a:t>A higher F1-score indicates better overall classification performance.</a:t>
            </a:r>
          </a:p>
          <a:p>
            <a:pPr algn="just">
              <a:lnSpc>
                <a:spcPct val="90000"/>
              </a:lnSpc>
            </a:pPr>
            <a:endParaRPr lang="en-US" sz="2200">
              <a:latin typeface="Aptos" panose="020B0004020202020204" pitchFamily="34" charset="0"/>
            </a:endParaRPr>
          </a:p>
        </p:txBody>
      </p:sp>
      <p:pic>
        <p:nvPicPr>
          <p:cNvPr id="7" name="Picture 6">
            <a:extLst>
              <a:ext uri="{FF2B5EF4-FFF2-40B4-BE49-F238E27FC236}">
                <a16:creationId xmlns:a16="http://schemas.microsoft.com/office/drawing/2014/main" id="{0A30F6DD-77CF-91BD-59EE-16EDF102DC55}"/>
              </a:ext>
            </a:extLst>
          </p:cNvPr>
          <p:cNvPicPr>
            <a:picLocks noChangeAspect="1"/>
          </p:cNvPicPr>
          <p:nvPr/>
        </p:nvPicPr>
        <p:blipFill>
          <a:blip r:embed="rId6"/>
          <a:srcRect t="35200" b="26934"/>
          <a:stretch>
            <a:fillRect/>
          </a:stretch>
        </p:blipFill>
        <p:spPr>
          <a:xfrm>
            <a:off x="6593360" y="3743844"/>
            <a:ext cx="5451627" cy="1267561"/>
          </a:xfrm>
          <a:prstGeom prst="rect">
            <a:avLst/>
          </a:prstGeom>
          <a:effectLst/>
        </p:spPr>
      </p:pic>
    </p:spTree>
    <p:extLst>
      <p:ext uri="{BB962C8B-B14F-4D97-AF65-F5344CB8AC3E}">
        <p14:creationId xmlns:p14="http://schemas.microsoft.com/office/powerpoint/2010/main" val="3550991878"/>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B2FA89-92C8-4980-3E4C-D049A7266340}"/>
              </a:ext>
            </a:extLst>
          </p:cNvPr>
          <p:cNvSpPr txBox="1"/>
          <p:nvPr/>
        </p:nvSpPr>
        <p:spPr>
          <a:xfrm>
            <a:off x="2773180" y="2668249"/>
            <a:ext cx="6580682" cy="1569660"/>
          </a:xfrm>
          <a:prstGeom prst="rect">
            <a:avLst/>
          </a:prstGeom>
          <a:noFill/>
        </p:spPr>
        <p:txBody>
          <a:bodyPr wrap="square" rtlCol="0">
            <a:spAutoFit/>
          </a:bodyPr>
          <a:lstStyle/>
          <a:p>
            <a:pPr algn="ctr"/>
            <a:r>
              <a:rPr lang="en-US" sz="9600" b="1">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9233908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0</TotalTime>
  <Words>538</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Century Gothic</vt:lpstr>
      <vt:lpstr>Times New Roman</vt:lpstr>
      <vt:lpstr>Wingdings 3</vt:lpstr>
      <vt:lpstr>Ion</vt:lpstr>
      <vt:lpstr>Tank V/S Non-Tank</vt:lpstr>
      <vt:lpstr>Data Description</vt:lpstr>
      <vt:lpstr>Data Preprocessing</vt:lpstr>
      <vt:lpstr>Data Visualization</vt:lpstr>
      <vt:lpstr>Data Visuals</vt:lpstr>
      <vt:lpstr>Model Description</vt:lpstr>
      <vt:lpstr>Why Random Forest?</vt:lpstr>
      <vt:lpstr>Model Performance</vt:lpstr>
      <vt:lpstr>Model Performance precision, recall, and F1-score.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AccelorInterns26</dc:creator>
  <cp:lastModifiedBy>AccelorInterns26</cp:lastModifiedBy>
  <cp:revision>2</cp:revision>
  <dcterms:created xsi:type="dcterms:W3CDTF">2026-03-03T08:06:56Z</dcterms:created>
  <dcterms:modified xsi:type="dcterms:W3CDTF">2026-05-30T05:19:17Z</dcterms:modified>
</cp:coreProperties>
</file>